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NARASI: (1) Sanad secara alami berbentuk jaringan berarah — perawi sebagai node, relasi guru–murid sebagai edge; inilah dasar pendekatan graf. (2) Skala ratusan ribu perawi/relasi membuat penelusuran isnad bundle manual tidak memadai — dibutuhkan ukuran kuantitatif. (3) Solusi yang ada (Gephi/Cytoscape, gambar statis, prototipe CHN) punya kelebihan, tetapi semuanya gagal pada sisi akses.</a:t>
            </a:r>
          </a:p>
          <a:p/>
          <a:p>
            <a:r>
              <a:t>PRESENTER: Tutup slide dengan pertanyaan di kanan bawah — 'bagaimana mencapainya?' — sebagai jembatan ke slide tujuan. Tiga kata kunci rumusan masalah: data (pra-pemrosesan), analisis (kuantitatif), akses (front-end web).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NARASI: Tiga tujuan memetakan 1:1 ke rumusan masalah — bangun (data), ukur (analisis), sajikan (akses). Manfaat bergradasi dari riset ke praktis. Batasan menegaskan ruang lingkup: kolom sanad saja, nama apa adanya, entitas perawi + relasi, 5 metrik, dan front-end web; kesahihan sanad secara ilmu hadis di luar cakupan.</a:t>
            </a:r>
          </a:p>
          <a:p/>
          <a:p>
            <a:r>
              <a:t>PRESENTER: Saat membahas batasan, sampaikan bahwa batasan adalah penegasan scope, bukan kelemahan — beberapa di antaranya sudah menjadi saran pengembangan di Bab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9536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</a:rPr>
              <a:t>Jaringan Sanad Hadis: Kebutuhan Nyata, Akses yang Belum Ideal</a:t>
            </a:r>
          </a:p>
        </p:txBody>
      </p:sp>
      <p:pic>
        <p:nvPicPr>
          <p:cNvPr id="4" name="Picture 3" descr="logoug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01168"/>
            <a:ext cx="522385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27080" y="27432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Segoe UI"/>
              </a:rPr>
              <a:t>UNIVERSITAS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Segoe UI"/>
              </a:rPr>
              <a:t>GADJAH MADA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-45720" y="6446520"/>
            <a:ext cx="99852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686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L O C A L L Y   R O O T E D ,   G L O B A L L Y   R E S P E C T E 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39528" y="6446520"/>
            <a:ext cx="2304288" cy="457200"/>
          </a:xfrm>
          <a:prstGeom prst="rect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9528" y="6446520"/>
            <a:ext cx="23042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Segoe UI"/>
              </a:rPr>
              <a:t>u g m . a c . i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68680"/>
            <a:ext cx="361188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Sanad: Jaringan Keilmuan Islam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1" i="0">
                <a:solidFill>
                  <a:srgbClr val="009EA3"/>
                </a:solidFill>
                <a:latin typeface="Segoe UI"/>
              </a:rPr>
              <a:t>650.986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47088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Segoe UI"/>
              </a:rPr>
              <a:t>entri hadis ternotasi (Sanadset 650K)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41732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1" i="0">
                <a:solidFill>
                  <a:srgbClr val="009EA3"/>
                </a:solidFill>
                <a:latin typeface="Segoe UI"/>
              </a:rPr>
              <a:t>926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847088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Segoe UI"/>
              </a:rPr>
              <a:t>kitab hadis klasik sumber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87168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Hadis = matan + sanad. 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Sanad adalah rantai perawi guru–murid yang bersambung lintas generasi hingga Rasulullah saw.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64992"/>
            <a:ext cx="32918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3A3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3703320" y="3200400"/>
            <a:ext cx="329184" cy="329184"/>
          </a:xfrm>
          <a:prstGeom prst="star5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493008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Perawi = node, relasi guru–murid = edge 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→ jaringan berarah. Struktur ini </a:t>
            </a:r>
            <a:r>
              <a:rPr sz="950" b="1" i="0">
                <a:solidFill>
                  <a:srgbClr val="1A1A1A"/>
                </a:solidFill>
                <a:latin typeface="Segoe UI"/>
              </a:rPr>
              <a:t>layak dianalisis secara komputasional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868680"/>
            <a:ext cx="352044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868680"/>
            <a:ext cx="3429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Skala Menuntut Komputasi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417320"/>
            <a:ext cx="352044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1746504"/>
            <a:ext cx="274320" cy="274320"/>
          </a:xfrm>
          <a:prstGeom prst="ellipse">
            <a:avLst/>
          </a:prstGeom>
          <a:noFill/>
          <a:ln w="20320">
            <a:solidFill>
              <a:srgbClr val="009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99432" y="1837944"/>
            <a:ext cx="91440" cy="91440"/>
          </a:xfrm>
          <a:prstGeom prst="ellipse">
            <a:avLst/>
          </a:prstGeom>
          <a:solidFill>
            <a:srgbClr val="009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545336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Perawi dalam jaringan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545336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9EA3"/>
                </a:solidFill>
                <a:latin typeface="Segoe UI"/>
              </a:rPr>
              <a:t>177.047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94767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Segoe UI"/>
              </a:rPr>
              <a:t>penelusuran isnad bundle manual tak memadai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2459736"/>
            <a:ext cx="352044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2788920"/>
            <a:ext cx="274320" cy="274320"/>
          </a:xfrm>
          <a:prstGeom prst="ellipse">
            <a:avLst/>
          </a:prstGeom>
          <a:noFill/>
          <a:ln w="20320">
            <a:solidFill>
              <a:srgbClr val="009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99432" y="2880360"/>
            <a:ext cx="91440" cy="91440"/>
          </a:xfrm>
          <a:prstGeom prst="ellipse">
            <a:avLst/>
          </a:prstGeom>
          <a:solidFill>
            <a:srgbClr val="009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587752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Relasi guru–murid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58775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9EA3"/>
                </a:solidFill>
                <a:latin typeface="Segoe UI"/>
              </a:rPr>
              <a:t>776.798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99008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Segoe UI"/>
              </a:rPr>
              <a:t>pengaruh tiap perawi butuh ukuran kuantitatif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502152"/>
            <a:ext cx="352044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07992" y="3831335"/>
            <a:ext cx="274320" cy="274320"/>
          </a:xfrm>
          <a:prstGeom prst="ellipse">
            <a:avLst/>
          </a:prstGeom>
          <a:noFill/>
          <a:ln w="20320">
            <a:solidFill>
              <a:srgbClr val="009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9432" y="3922776"/>
            <a:ext cx="91440" cy="91440"/>
          </a:xfrm>
          <a:prstGeom prst="ellipse">
            <a:avLst/>
          </a:prstGeom>
          <a:solidFill>
            <a:srgbClr val="009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630168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Rantai sanad bersih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30168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9EA3"/>
                </a:solidFill>
                <a:latin typeface="Segoe UI"/>
              </a:rPr>
              <a:t>487.451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03250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Segoe UI"/>
              </a:rPr>
              <a:t>hasil pra-pemrosesan 650 rb hadis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868680"/>
            <a:ext cx="3639312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868680"/>
            <a:ext cx="3547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Solusi Saat Ini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1298448"/>
            <a:ext cx="10789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43032" y="1298448"/>
            <a:ext cx="1143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12096" y="1362455"/>
            <a:ext cx="182880" cy="1828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12096" y="1339595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46" name="Oval 45"/>
          <p:cNvSpPr/>
          <p:nvPr/>
        </p:nvSpPr>
        <p:spPr>
          <a:xfrm>
            <a:off x="11023092" y="1362455"/>
            <a:ext cx="182880" cy="182880"/>
          </a:xfrm>
          <a:prstGeom prst="ellipse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23092" y="1339595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1609344"/>
            <a:ext cx="14173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0728" y="1609344"/>
            <a:ext cx="12893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1A1A1A"/>
                </a:solidFill>
                <a:latin typeface="Segoe UI"/>
              </a:rPr>
              <a:t>Gephi / Cytoscape (desktop)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1609344"/>
            <a:ext cx="1078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28048" y="1609344"/>
            <a:ext cx="95097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Segoe UI"/>
              </a:rPr>
              <a:t>Analisis lengkap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43032" y="1609344"/>
            <a:ext cx="1143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07040" y="1609344"/>
            <a:ext cx="10149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Segoe UI"/>
              </a:rPr>
              <a:t>Instalasi &amp; keahlian khusus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2322576"/>
            <a:ext cx="14173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0728" y="2322576"/>
            <a:ext cx="12893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1A1A1A"/>
                </a:solidFill>
                <a:latin typeface="Segoe UI"/>
              </a:rPr>
              <a:t>Gambar statis di publikasi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2322576"/>
            <a:ext cx="1078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28048" y="2322576"/>
            <a:ext cx="95097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Segoe UI"/>
              </a:rPr>
              <a:t>Mudah disebar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43032" y="2322576"/>
            <a:ext cx="1143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07040" y="2322576"/>
            <a:ext cx="10149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Segoe UI"/>
              </a:rPr>
              <a:t>Tak bisa ditelusuri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3035808"/>
            <a:ext cx="14173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0728" y="3035808"/>
            <a:ext cx="12893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 i="0">
                <a:solidFill>
                  <a:srgbClr val="1A1A1A"/>
                </a:solidFill>
                <a:latin typeface="Segoe UI"/>
              </a:rPr>
              <a:t>Prototipe CHN Visualizer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3035808"/>
            <a:ext cx="10789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28048" y="3035808"/>
            <a:ext cx="95097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Segoe UI"/>
              </a:rPr>
              <a:t>Arah interaktif dirintis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43032" y="3035808"/>
            <a:ext cx="1143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07040" y="3035808"/>
            <a:ext cx="10149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Segoe UI"/>
              </a:rPr>
              <a:t>Belum terbuka luas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590288"/>
            <a:ext cx="7498079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590288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Eksplorasi Jaringan Sanad Membutuhkan Solusi Baru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102352"/>
            <a:ext cx="1801368" cy="1024128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5102352"/>
            <a:ext cx="158191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Interaktif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— zoom, cari, telusuri simpul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04872" y="5102352"/>
            <a:ext cx="1801368" cy="1024128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14600" y="5102352"/>
            <a:ext cx="158191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Berbasis web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— tanpa instalasi apa pun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06824" y="5102352"/>
            <a:ext cx="1801368" cy="1024128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6552" y="5102352"/>
            <a:ext cx="158191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Terukur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— 5 metrik sentralitas SNA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08776" y="5102352"/>
            <a:ext cx="1801368" cy="1024128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18504" y="5102352"/>
            <a:ext cx="158191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Terbuka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— pelajar, peneliti, publik</a:t>
            </a:r>
          </a:p>
        </p:txBody>
      </p:sp>
      <p:sp>
        <p:nvSpPr>
          <p:cNvPr id="76" name="Chevron 75"/>
          <p:cNvSpPr/>
          <p:nvPr/>
        </p:nvSpPr>
        <p:spPr>
          <a:xfrm>
            <a:off x="8183879" y="5029200"/>
            <a:ext cx="685800" cy="114300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89720" y="461772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6400" b="1" i="0">
                <a:solidFill>
                  <a:srgbClr val="1F3864"/>
                </a:solidFill>
                <a:latin typeface="Segoe UI"/>
              </a:rPr>
              <a:t>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5715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Bagaimana mencapainya?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9536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</a:rPr>
              <a:t>Ruang Lingkup dan Tujuan Penelitian</a:t>
            </a:r>
          </a:p>
        </p:txBody>
      </p:sp>
      <p:pic>
        <p:nvPicPr>
          <p:cNvPr id="4" name="Picture 3" descr="logoug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01168"/>
            <a:ext cx="522385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27080" y="27432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Segoe UI"/>
              </a:rPr>
              <a:t>UNIVERSITAS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Segoe UI"/>
              </a:rPr>
              <a:t>GADJAH MADA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-45720" y="6446520"/>
            <a:ext cx="99852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686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L O C A L L Y   R O O T E D ,   G L O B A L L Y   R E S P E C T E 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39528" y="6446520"/>
            <a:ext cx="2304288" cy="457200"/>
          </a:xfrm>
          <a:prstGeom prst="rect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9528" y="6446520"/>
            <a:ext cx="23042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Segoe UI"/>
              </a:rPr>
              <a:t>u g m . a c . i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68680"/>
            <a:ext cx="269748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Knowledge Graph + SNA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467612" y="1709928"/>
            <a:ext cx="429768" cy="347472"/>
          </a:xfrm>
          <a:prstGeom prst="line">
            <a:avLst/>
          </a:prstGeom>
          <a:ln w="1397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67612" y="2057400"/>
            <a:ext cx="768096" cy="73152"/>
          </a:xfrm>
          <a:prstGeom prst="line">
            <a:avLst/>
          </a:prstGeom>
          <a:ln w="1397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7612" y="2057400"/>
            <a:ext cx="402336" cy="219456"/>
          </a:xfrm>
          <a:prstGeom prst="line">
            <a:avLst/>
          </a:prstGeom>
          <a:ln w="1397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97380" y="1709928"/>
            <a:ext cx="338328" cy="420624"/>
          </a:xfrm>
          <a:prstGeom prst="line">
            <a:avLst/>
          </a:prstGeom>
          <a:ln w="1397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69948" y="1709928"/>
            <a:ext cx="27432" cy="566928"/>
          </a:xfrm>
          <a:prstGeom prst="line">
            <a:avLst/>
          </a:prstGeom>
          <a:ln w="1397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69948" y="2130552"/>
            <a:ext cx="365760" cy="146304"/>
          </a:xfrm>
          <a:prstGeom prst="line">
            <a:avLst/>
          </a:prstGeom>
          <a:ln w="1397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376172" y="1965960"/>
            <a:ext cx="182880" cy="1828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8508" y="1591055"/>
            <a:ext cx="237744" cy="237744"/>
          </a:xfrm>
          <a:prstGeom prst="ellipse">
            <a:avLst/>
          </a:prstGeom>
          <a:solidFill>
            <a:srgbClr val="009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53412" y="2048256"/>
            <a:ext cx="164592" cy="16459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01368" y="2208275"/>
            <a:ext cx="137160" cy="1371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5146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Knowledge Graph + SNA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— representasi dan pengukuran jaringan perawi yang akurat, terukur, dan tanpa perangkat khusus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723644" y="3401568"/>
            <a:ext cx="256032" cy="219456"/>
          </a:xfrm>
          <a:prstGeom prst="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49908" y="3840480"/>
            <a:ext cx="457200" cy="457200"/>
          </a:xfrm>
          <a:prstGeom prst="ellipse">
            <a:avLst/>
          </a:prstGeom>
          <a:noFill/>
          <a:ln w="279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943100" y="4233672"/>
            <a:ext cx="219456" cy="219456"/>
          </a:xfrm>
          <a:prstGeom prst="line">
            <a:avLst/>
          </a:prstGeom>
          <a:ln w="33020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46177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50" b="0" i="0">
                <a:solidFill>
                  <a:srgbClr val="1A1A1A"/>
                </a:solidFill>
                <a:latin typeface="Segoe UI"/>
              </a:rPr>
              <a:t>Terdapat </a:t>
            </a:r>
            <a:r>
              <a:rPr sz="950" b="1" i="0">
                <a:solidFill>
                  <a:srgbClr val="1A1A1A"/>
                </a:solidFill>
                <a:latin typeface="Segoe UI"/>
              </a:rPr>
              <a:t>gap penelitian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: hasil analisis jaringan sanad belum tersaji dalam front-end web publik yang interaktif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868680"/>
            <a:ext cx="269748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79" y="868680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Tujuan Penelitian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1417320"/>
            <a:ext cx="2697480" cy="1353312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1417320"/>
            <a:ext cx="2368296" cy="1353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Segoe UI"/>
              </a:rPr>
              <a:t>Membangun</a:t>
            </a:r>
            <a:r>
              <a:rPr sz="1050" b="0" i="0">
                <a:solidFill>
                  <a:srgbClr val="1A1A1A"/>
                </a:solidFill>
                <a:latin typeface="Segoe UI"/>
              </a:rPr>
              <a:t> Knowledge Graph relasi guru–murid sebagai </a:t>
            </a:r>
            <a:r>
              <a:rPr sz="1050" b="1" i="0">
                <a:solidFill>
                  <a:srgbClr val="1A1A1A"/>
                </a:solidFill>
                <a:latin typeface="Segoe UI"/>
              </a:rPr>
              <a:t>graf berarah berbobot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2697480" cy="1353312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2152" y="2971800"/>
            <a:ext cx="2368296" cy="1353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Segoe UI"/>
              </a:rPr>
              <a:t>Mengukur</a:t>
            </a:r>
            <a:r>
              <a:rPr sz="1050" b="0" i="0">
                <a:solidFill>
                  <a:srgbClr val="1A1A1A"/>
                </a:solidFill>
                <a:latin typeface="Segoe UI"/>
              </a:rPr>
              <a:t> peran tiap perawi dengan </a:t>
            </a:r>
            <a:r>
              <a:rPr sz="1050" b="1" i="0">
                <a:solidFill>
                  <a:srgbClr val="1A1A1A"/>
                </a:solidFill>
                <a:latin typeface="Segoe UI"/>
              </a:rPr>
              <a:t>5 metrik sentralitas</a:t>
            </a:r>
            <a:r>
              <a:rPr sz="1050" b="0" i="0">
                <a:solidFill>
                  <a:srgbClr val="1A1A1A"/>
                </a:solidFill>
                <a:latin typeface="Segoe UI"/>
              </a:rPr>
              <a:t> SNA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4526280"/>
            <a:ext cx="2697480" cy="1353312"/>
          </a:xfrm>
          <a:prstGeom prst="rect">
            <a:avLst/>
          </a:prstGeom>
          <a:solidFill>
            <a:srgbClr val="E2E2E2"/>
          </a:solidFill>
          <a:ln w="13970">
            <a:solidFill>
              <a:srgbClr val="3A3A3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2152" y="4526280"/>
            <a:ext cx="2368296" cy="1353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Segoe UI"/>
              </a:rPr>
              <a:t>Mengembangkan</a:t>
            </a:r>
            <a:r>
              <a:rPr sz="1050" b="0" i="0">
                <a:solidFill>
                  <a:srgbClr val="1A1A1A"/>
                </a:solidFill>
                <a:latin typeface="Segoe UI"/>
              </a:rPr>
              <a:t> front-end web </a:t>
            </a:r>
            <a:r>
              <a:rPr sz="1050" b="1" i="0">
                <a:solidFill>
                  <a:srgbClr val="1A1A1A"/>
                </a:solidFill>
                <a:latin typeface="Segoe UI"/>
              </a:rPr>
              <a:t>interaktif</a:t>
            </a:r>
            <a:r>
              <a:rPr sz="1050" b="0" i="0">
                <a:solidFill>
                  <a:srgbClr val="1A1A1A"/>
                </a:solidFill>
                <a:latin typeface="Segoe UI"/>
              </a:rPr>
              <a:t> untuk eksplorasi publik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868680"/>
            <a:ext cx="269748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868680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Manfaat Penelitian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417320"/>
            <a:ext cx="2697480" cy="224028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1417320"/>
            <a:ext cx="269748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1417320"/>
            <a:ext cx="2697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Riset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1837944"/>
            <a:ext cx="23682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Referensi 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metodologis KG + SNA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 pada domain keislaman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Hasil sentralitas jadi 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pembanding penilaian ulama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 dalam literatur hadis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840480"/>
            <a:ext cx="2697480" cy="224028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3840480"/>
            <a:ext cx="269748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840480"/>
            <a:ext cx="2697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Praktis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4261104"/>
            <a:ext cx="23682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Mahasiswa &amp; praktisi: telusuri 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otoritas perawi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 dan pola transmisi ilmu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Masyarakat: 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eksplorasi mandiri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 tanpa keahlian teknis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868680"/>
            <a:ext cx="269748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868680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Batasan Penelitian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1417320"/>
            <a:ext cx="2697480" cy="822960"/>
          </a:xfrm>
          <a:prstGeom prst="rect">
            <a:avLst/>
          </a:prstGeom>
          <a:solidFill>
            <a:srgbClr val="FFE699"/>
          </a:solidFill>
          <a:ln w="13970">
            <a:solidFill>
              <a:srgbClr val="3A3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53144" y="1417320"/>
            <a:ext cx="2404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Sanadset 650K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— hanya kolom sanad, tanpa matan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2377440"/>
            <a:ext cx="2697480" cy="822960"/>
          </a:xfrm>
          <a:prstGeom prst="rect">
            <a:avLst/>
          </a:prstGeom>
          <a:solidFill>
            <a:srgbClr val="FFE699"/>
          </a:solidFill>
          <a:ln w="13970">
            <a:solidFill>
              <a:srgbClr val="3A3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3144" y="2377440"/>
            <a:ext cx="2404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1A1A1A"/>
                </a:solidFill>
                <a:latin typeface="Segoe UI"/>
              </a:rPr>
              <a:t>Nama perawi </a:t>
            </a:r>
            <a:r>
              <a:rPr sz="950" b="1" i="0">
                <a:solidFill>
                  <a:srgbClr val="1A1A1A"/>
                </a:solidFill>
                <a:latin typeface="Segoe UI"/>
              </a:rPr>
              <a:t>apa adanya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, tanpa verifikasi keaslian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3337560"/>
            <a:ext cx="2697480" cy="822960"/>
          </a:xfrm>
          <a:prstGeom prst="rect">
            <a:avLst/>
          </a:prstGeom>
          <a:solidFill>
            <a:srgbClr val="FFE699"/>
          </a:solidFill>
          <a:ln w="13970">
            <a:solidFill>
              <a:srgbClr val="3A3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3144" y="3337560"/>
            <a:ext cx="2404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1A1A1A"/>
                </a:solidFill>
                <a:latin typeface="Segoe UI"/>
              </a:rPr>
              <a:t>Entitas: </a:t>
            </a:r>
            <a:r>
              <a:rPr sz="950" b="1" i="0">
                <a:solidFill>
                  <a:srgbClr val="1A1A1A"/>
                </a:solidFill>
                <a:latin typeface="Segoe UI"/>
              </a:rPr>
              <a:t>perawi + relasi periwayatan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saja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4297680"/>
            <a:ext cx="2697480" cy="822960"/>
          </a:xfrm>
          <a:prstGeom prst="rect">
            <a:avLst/>
          </a:prstGeom>
          <a:solidFill>
            <a:srgbClr val="FFE699"/>
          </a:solidFill>
          <a:ln w="13970">
            <a:solidFill>
              <a:srgbClr val="3A3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53144" y="4297680"/>
            <a:ext cx="2404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1A1A1A"/>
                </a:solidFill>
                <a:latin typeface="Segoe UI"/>
              </a:rPr>
              <a:t>Analisis dengan </a:t>
            </a:r>
            <a:r>
              <a:rPr sz="950" b="1" i="0">
                <a:solidFill>
                  <a:srgbClr val="1A1A1A"/>
                </a:solidFill>
                <a:latin typeface="Segoe UI"/>
              </a:rPr>
              <a:t>5 metrik sentralitas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 SNA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5257800"/>
            <a:ext cx="2697480" cy="822960"/>
          </a:xfrm>
          <a:prstGeom prst="rect">
            <a:avLst/>
          </a:prstGeom>
          <a:solidFill>
            <a:srgbClr val="FFE699"/>
          </a:solidFill>
          <a:ln w="13970">
            <a:solidFill>
              <a:srgbClr val="3A3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53144" y="5257800"/>
            <a:ext cx="2404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Segoe UI"/>
              </a:rPr>
              <a:t>Di luar cakupan</a:t>
            </a:r>
            <a:r>
              <a:rPr sz="950" b="0" i="0">
                <a:solidFill>
                  <a:srgbClr val="1A1A1A"/>
                </a:solidFill>
                <a:latin typeface="Segoe UI"/>
              </a:rPr>
              <a:t>: kesahihan sanad &amp; kronologi riwayat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