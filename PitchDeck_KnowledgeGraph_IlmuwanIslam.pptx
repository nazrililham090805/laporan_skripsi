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Selama 14 abad, ilmu hadis diwariskan lewat sanad — rantai guru–murid yang membentuk jejaring sosial ulama terbesar dalam sejarah peradaban Islam. Penelitian ini mengubah jaringan itu dari teks statis menjadi Knowledge Graph interaktif yang bisa dijelajahi siapa pun dari browser.</a:t>
            </a:r>
          </a:p>
          <a:p/>
          <a:p>
            <a:r>
              <a:t>CATATAN PRESENTER: Buka dengan pertanyaan retoris: 'Bagaimana kita tahu seorang perawi hadis benar-benar berpengaruh?' Diamkan 2 detik, lalu tunjukkan angka di bawah: inilah skala masalahnya. Jangan bahas teknis dulu — bangun rasa penasaran.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Jaringan sanad adalah big data sebelum era big data: ratusan ribu perawi saling terhubung lintas generasi. Metode klasik (menelusuri isnad bundle secara manual) tidak mampu menjawab pertanyaan kuantitatif seperti 'siapa perawi paling sentral?' pada skala ini — dan hasil kajian yang ada pun sulit diakses publik.</a:t>
            </a:r>
          </a:p>
          <a:p/>
          <a:p>
            <a:r>
              <a:t>CATATAN PRESENTER: Tekankan tiga kata kunci: skala, ukuran, akses. Ketiganya menjadi kerangka rumusan masalah — biarkan penguji melihat benang merah ke Bab 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Posisi penelitian ini jelas: bukan yang pertama menganalisis jaringan perawi, tetapi yang menjembatani hasil analisis itu ke publik. Studi terdahulu sudah membuktikan jaringan perawi bisa dianalisis komputasional — namun luarannya statis dan terkunci di Gephi/Cytoscape.</a:t>
            </a:r>
          </a:p>
          <a:p/>
          <a:p>
            <a:r>
              <a:t>CATATAN PRESENTER: Ini slide penting untuk penguji — tunjukkan bahwa Anda memahami state of the art. Sebut nama peneliti (Mghari, Farooqi, Shuaib) secara lisan untuk menunjukkan penguasaan literatur.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Solusi yang diusulkan bukan sekadar aplikasi, melainkan pipeline riset utuh: data sanad dibersihkan, dimodelkan sebagai knowledge graph, dianalisis dengan SNA, lalu disajikan sebagai dashboard web publik. Tiga pilar ini memetakan langsung tiga tujuan penelitian.</a:t>
            </a:r>
          </a:p>
          <a:p/>
          <a:p>
            <a:r>
              <a:t>CATATAN PRESENTER: Gunakan flow di atas sebagai peta presentasi: 'lima slide ke depan mengikuti alur ini dari kiri ke kanan.' Audiens jadi tahu posisi mereka setiap saat.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Kualitas graf ditentukan di sini. 163.535 baris dibuang karena tidak memuat relasi yang valid, dan nama perawi dinormalisasi dalam 6 langkah — dari penghapusan harakat hingga resolusi kata kekerabatan (contoh: 'Abihi' menjadi 'Abu Muhammad'). Hasilnya 487.451 rantai bersih dan 177.289 nama unik.</a:t>
            </a:r>
          </a:p>
          <a:p/>
          <a:p>
            <a:r>
              <a:t>CATATAN PRESENTER: Jika ditanya penguji soal validitas: jelaskan bahwa tanpa normalisasi, 'Aisyah' dengan ta marbuta dan dengan ha dihitung dua node berbeda — inilah kontribusi pra-pemrosesan yang membedakan dari penelitian terdahulu.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Inti pemodelan: setiap pasangan perawi bertetangga dalam rantai sanad menjadi satu tripel (Murid — meriwayatkan-dari → Guru). Rantai n perawi menghasilkan n−1 tripel. Hasil akhirnya graf berarah berbobot: 177.047 node, 776.798 edge — jaringan keilmuan Islam dalam bentuk komputasional.</a:t>
            </a:r>
          </a:p>
          <a:p/>
          <a:p>
            <a:r>
              <a:t>CATATAN PRESENTER: Sorot relasi Ibnu Umar → Nafi' (11.346 kali): dalam ilmu hadis jalur ini memang dikenal sebagai 'silsilah emas' — data komputasional selaras dengan pengetahuan klasik. Ini bukti awal validitas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Lima metrik = lima pertanyaan berbeda. Siapa guru paling produktif (in-degree)? Siapa murid paling rajin (out-degree)? Siapa yang prestisius (eigenvector)? Siapa yang paling dekat ke semua (closeness)? Siapa jembatan antarkelompok (betweenness)?</a:t>
            </a:r>
          </a:p>
          <a:p/>
          <a:p>
            <a:r>
              <a:t>CATATAN PRESENTER: Antisipasi pertanyaan penguji soal subset: closeness/betweenness butuh all-pairs shortest path — O(V·E) lebih — tidak feasible untuk 177 rb node di laptop 8 GB. Subset 50.000 edge terkuat mempertahankan backbone jaringan sehingga perawi sentral tetap teridentifikasi. Ini juga sudah masuk saran pengembangan.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Arsitektur three-tier: (1) Python + NetworkX menghitung semuanya offline; (2) hasil diekspor ke CSV lalu disimpan di Supabase/PostgreSQL dengan REST API otomatis; (3) React SPA mengambil data jadi dan merendernya. Dashboard bersifat read-only — tidak ada perhitungan sentralitas di browser pengguna.</a:t>
            </a:r>
          </a:p>
          <a:p/>
          <a:p>
            <a:r>
              <a:t>CATATAN PRESENTER: Jika ditanya kenapa Supabase: BaaS berbasis PostgreSQL yang memberi REST API tanpa perlu membangun back-end sendiri — tepat untuk arsitektur read-only. Visualisasi graf ditulis sendiri di Canvas (bukan pustaka jadi) — itu kontribusi teknis, dibahas di slide 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Empat halaman: Graf Relasi Perawi (inti — eksplorasi visual), Statistik Perawi (top-10 per metrik), Tabel Relasi, dan Tabel Sentralitas. Graf dirender di HTML5 Canvas dengan algoritma force-directed yang dirancang sendiri: gaya tolak, gaya pegas, plus gaya radial yang menarik perawi paling sentral ke pusat.</a:t>
            </a:r>
          </a:p>
          <a:p/>
          <a:p>
            <a:r>
              <a:t>CATATAN PRESENTER: Idealnya beralih ke demo langsung di sini (2–3 menit): cari 'Abu Hurairah', klik node-nya, tunjukkan panel detail (1.292 guru, 3.528 murid), lalu ganti metrik dan tunjukkan perubahan tampilan. Slide ini cadangan bila koneksi bermasalah.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Temuan kunci: Abu Hurairah #1 pada 4 dari 5 metrik (in-degree, eigenvector, closeness, betweenness) — konsisten dengan catatan sejarah bahwa beliau sahabat yang paling banyak meriwayatkan hadis. Out-degree justru dipuncaki Sufyan, karena metrik itu mengukur peran murid: generasi setelah sahabat yang menimba dari banyak guru.</a:t>
            </a:r>
          </a:p>
          <a:p/>
          <a:p>
            <a:r>
              <a:t>CATATAN PRESENTER: Ini momen 'aha' presentasi — algoritma tidak tahu sejarah, hanya struktur graf, namun hasilnya menunjuk tokoh yang sama dengan konsensus ulama. Perbedaan pemuncak out-degree menunjukkan tiap metrik menangkap peran berbeda, bukan redundan.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Validasi fungsional: 14 skenario black-box menutup tiga kelompok fungsi — fondasi (navigasi, koneksi Supabase), eksplorasi graf (fitur paling kompleks: render, interaksi, filter), dan penyajian data (tabel besar dengan paginasi/sorting). Seluruhnya valid, tingkat keberhasilan 100%.</a:t>
            </a:r>
          </a:p>
          <a:p/>
          <a:p>
            <a:r>
              <a:t>CATATAN PRESENTER: Jujur pada batasan bila ditanya: black-box menguji fungsionalitas, bukan performa/beban. Sampaikan bahwa pengujian performa dan usability formal adalah peluang kerja lanjutan.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Dampak menjangkau tiga lapis audiens — dari peneliti (referensi metodologis) hingga masyarakat umum (akses tanpa hambatan teknis). Empat arah pengembangan diambil langsung dari keterbatasan yang teridentifikasi: sentralitas graf penuh, data dinamis, dimensi kesahihan, dan validasi nama.</a:t>
            </a:r>
          </a:p>
          <a:p/>
          <a:p>
            <a:r>
              <a:t>CATATAN PRESENTER: Menyebut keterbatasan sebagai roadmap menunjukkan kematangan riset — Anda tahu persis di mana batas penelitian dan bagaimana melampauinya. Sampaikan roadmap #1 sebagai yang paling teknis dan siap digarap.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NARASI UTAMA: Rangkum dalam satu tarikan napas: dari 650.986 hadis menjadi 487.451 sanad bersih, 177.047 perawi dalam satu knowledge graph, diukur lima metrik SNA, dan disajikan dalam satu dashboard publik. Seluruh tujuan penelitian tercapai; celah penelitian terdahulu terisi.</a:t>
            </a:r>
          </a:p>
          <a:p/>
          <a:p>
            <a:r>
              <a:t>CATATAN PRESENTER: Tutup dengan kalimat kunci di tengah slide, jeda, lalu ucapkan terima kasih dan persilakan sesi tanya jawab. Siapkan tab browser dashboard tetap terbuka untuk demo saat menjawab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9292039" y="3402364"/>
            <a:ext cx="60673" cy="27779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292039" y="3680156"/>
            <a:ext cx="305156" cy="43071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9292039" y="3402364"/>
            <a:ext cx="60673" cy="27779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352712" y="3063240"/>
            <a:ext cx="111328" cy="33912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292343" y="3424122"/>
            <a:ext cx="775684" cy="8811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68027" y="3424122"/>
            <a:ext cx="1224012" cy="25603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459865" y="1189288"/>
            <a:ext cx="389385" cy="118300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252479" y="1189288"/>
            <a:ext cx="596771" cy="194287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415236" y="5016782"/>
            <a:ext cx="223069" cy="92300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7292343" y="3512238"/>
            <a:ext cx="345962" cy="150454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415236" y="5016782"/>
            <a:ext cx="223069" cy="92300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7292343" y="3512238"/>
            <a:ext cx="122893" cy="242755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9597195" y="3978592"/>
            <a:ext cx="616298" cy="13228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0213493" y="3132167"/>
            <a:ext cx="38986" cy="84642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292343" y="3424122"/>
            <a:ext cx="775684" cy="8811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92343" y="3512238"/>
            <a:ext cx="345962" cy="150454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093392" y="1061442"/>
            <a:ext cx="451858" cy="91856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8068027" y="1980011"/>
            <a:ext cx="25365" cy="144411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44868" y="3042306"/>
            <a:ext cx="119172" cy="2093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344868" y="3042306"/>
            <a:ext cx="7844" cy="36005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292039" y="3680156"/>
            <a:ext cx="305156" cy="43071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597195" y="3978592"/>
            <a:ext cx="616298" cy="13228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252479" y="2372293"/>
            <a:ext cx="207386" cy="75987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9464040" y="3063240"/>
            <a:ext cx="788439" cy="6892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0213493" y="3978592"/>
            <a:ext cx="1571551" cy="203340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9597195" y="4110874"/>
            <a:ext cx="2187849" cy="190111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0252479" y="2372293"/>
            <a:ext cx="207386" cy="75987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9464040" y="2372293"/>
            <a:ext cx="995825" cy="69094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093392" y="1061442"/>
            <a:ext cx="451858" cy="91856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45250" y="1061442"/>
            <a:ext cx="799618" cy="198086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9344868" y="3042306"/>
            <a:ext cx="119172" cy="2093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352712" y="3063240"/>
            <a:ext cx="111328" cy="33912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9205103" y="3593221"/>
            <a:ext cx="173870" cy="173870"/>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285796" y="3335449"/>
            <a:ext cx="133831" cy="133831"/>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998585" y="3354680"/>
            <a:ext cx="138883" cy="138883"/>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799213" y="1139251"/>
            <a:ext cx="100073" cy="100073"/>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65086" y="4943563"/>
            <a:ext cx="146438" cy="146438"/>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25891" y="5850442"/>
            <a:ext cx="178690" cy="17869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172129" y="3937227"/>
            <a:ext cx="82729" cy="82729"/>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256799" y="3476694"/>
            <a:ext cx="71086" cy="71086"/>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059600" y="1946219"/>
            <a:ext cx="67583" cy="67583"/>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262793" y="2960232"/>
            <a:ext cx="164148" cy="164148"/>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535486" y="4049165"/>
            <a:ext cx="123417" cy="123417"/>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203942" y="3083630"/>
            <a:ext cx="97073" cy="97073"/>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703101" y="5930050"/>
            <a:ext cx="163886" cy="16388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4211" y="2326639"/>
            <a:ext cx="91308" cy="91308"/>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67701" y="983893"/>
            <a:ext cx="155098" cy="155098"/>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226296" y="2825496"/>
            <a:ext cx="475488" cy="475488"/>
          </a:xfrm>
          <a:prstGeom prst="ellipse">
            <a:avLst/>
          </a:prstGeom>
          <a:solidFill>
            <a:srgbClr val="B0821D"/>
          </a:solidFill>
          <a:ln w="1778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66928" y="932688"/>
            <a:ext cx="384048" cy="4572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0704" y="813816"/>
            <a:ext cx="7772400" cy="274320"/>
          </a:xfrm>
          <a:prstGeom prst="rect">
            <a:avLst/>
          </a:prstGeom>
          <a:noFill/>
        </p:spPr>
        <p:txBody>
          <a:bodyPr wrap="square" anchor="t" lIns="0" rIns="0" tIns="0" bIns="0">
            <a:spAutoFit/>
          </a:bodyPr>
          <a:lstStyle/>
          <a:p>
            <a:pPr algn="l">
              <a:lnSpc>
                <a:spcPct val="112000"/>
              </a:lnSpc>
              <a:spcAft>
                <a:spcPts val="200"/>
              </a:spcAft>
            </a:pPr>
            <a:r>
              <a:rPr sz="1100" b="1" i="0">
                <a:solidFill>
                  <a:srgbClr val="E3B341"/>
                </a:solidFill>
                <a:latin typeface="Segoe UI"/>
              </a:rPr>
              <a:t>PITCH TUGAS AKHIR · TEKNOLOGI INFORMASI</a:t>
            </a:r>
          </a:p>
        </p:txBody>
      </p:sp>
      <p:sp>
        <p:nvSpPr>
          <p:cNvPr id="53" name="TextBox 52"/>
          <p:cNvSpPr txBox="1"/>
          <p:nvPr/>
        </p:nvSpPr>
        <p:spPr>
          <a:xfrm>
            <a:off x="548640" y="1234440"/>
            <a:ext cx="6675120" cy="1737360"/>
          </a:xfrm>
          <a:prstGeom prst="rect">
            <a:avLst/>
          </a:prstGeom>
          <a:noFill/>
        </p:spPr>
        <p:txBody>
          <a:bodyPr wrap="square" anchor="t" lIns="0" rIns="0" tIns="0" bIns="0">
            <a:spAutoFit/>
          </a:bodyPr>
          <a:lstStyle/>
          <a:p>
            <a:pPr algn="l">
              <a:lnSpc>
                <a:spcPct val="105000"/>
              </a:lnSpc>
              <a:spcAft>
                <a:spcPts val="200"/>
              </a:spcAft>
            </a:pPr>
            <a:r>
              <a:rPr sz="3800" b="1" i="0">
                <a:solidFill>
                  <a:srgbClr val="F2F6FA"/>
                </a:solidFill>
                <a:latin typeface="Segoe UI"/>
              </a:rPr>
              <a:t>Menghidupkan Jaringan</a:t>
            </a:r>
          </a:p>
          <a:p>
            <a:pPr algn="l">
              <a:lnSpc>
                <a:spcPct val="105000"/>
              </a:lnSpc>
              <a:spcAft>
                <a:spcPts val="200"/>
              </a:spcAft>
            </a:pPr>
            <a:r>
              <a:rPr sz="3800" b="1" i="0">
                <a:solidFill>
                  <a:srgbClr val="F2F6FA"/>
                </a:solidFill>
                <a:latin typeface="Segoe UI"/>
              </a:rPr>
              <a:t>Keilmuan Islam dengan Data</a:t>
            </a:r>
          </a:p>
        </p:txBody>
      </p:sp>
      <p:sp>
        <p:nvSpPr>
          <p:cNvPr id="54" name="TextBox 53"/>
          <p:cNvSpPr txBox="1"/>
          <p:nvPr/>
        </p:nvSpPr>
        <p:spPr>
          <a:xfrm>
            <a:off x="548640" y="2606040"/>
            <a:ext cx="6583680" cy="365760"/>
          </a:xfrm>
          <a:prstGeom prst="rect">
            <a:avLst/>
          </a:prstGeom>
          <a:noFill/>
        </p:spPr>
        <p:txBody>
          <a:bodyPr wrap="square" anchor="t" lIns="0" rIns="0" tIns="0" bIns="0">
            <a:spAutoFit/>
          </a:bodyPr>
          <a:lstStyle/>
          <a:p>
            <a:pPr algn="l">
              <a:lnSpc>
                <a:spcPct val="112000"/>
              </a:lnSpc>
              <a:spcAft>
                <a:spcPts val="200"/>
              </a:spcAft>
            </a:pPr>
            <a:r>
              <a:rPr sz="1200" b="1" i="0">
                <a:solidFill>
                  <a:srgbClr val="34C98B"/>
                </a:solidFill>
                <a:latin typeface="Segoe UI"/>
              </a:rPr>
              <a:t>PENGEMBANGAN FRONT-END KNOWLEDGE GRAPH KEAGAMAAN ILMUWAN ISLAM</a:t>
            </a:r>
          </a:p>
        </p:txBody>
      </p:sp>
      <p:sp>
        <p:nvSpPr>
          <p:cNvPr id="55" name="TextBox 54"/>
          <p:cNvSpPr txBox="1"/>
          <p:nvPr/>
        </p:nvSpPr>
        <p:spPr>
          <a:xfrm>
            <a:off x="548640" y="3127248"/>
            <a:ext cx="6309360" cy="822960"/>
          </a:xfrm>
          <a:prstGeom prst="rect">
            <a:avLst/>
          </a:prstGeom>
          <a:noFill/>
        </p:spPr>
        <p:txBody>
          <a:bodyPr wrap="square" anchor="t" lIns="0" rIns="0" tIns="0" bIns="0">
            <a:spAutoFit/>
          </a:bodyPr>
          <a:lstStyle/>
          <a:p>
            <a:pPr algn="l">
              <a:lnSpc>
                <a:spcPct val="125000"/>
              </a:lnSpc>
              <a:spcAft>
                <a:spcPts val="200"/>
              </a:spcAft>
            </a:pPr>
            <a:r>
              <a:rPr sz="1350" b="0" i="0">
                <a:solidFill>
                  <a:srgbClr val="ADBED1"/>
                </a:solidFill>
                <a:latin typeface="Segoe UI"/>
              </a:rPr>
              <a:t>14 abad transmisi hadis — 650.986 sanad, 177.047 perawi — kini dapat dijelajahi siapa pun secara interaktif, </a:t>
            </a:r>
            <a:r>
              <a:rPr sz="1350" b="1" i="0">
                <a:solidFill>
                  <a:srgbClr val="F2F6FA"/>
                </a:solidFill>
                <a:latin typeface="Segoe UI"/>
              </a:rPr>
              <a:t>langsung dari peramban web.</a:t>
            </a:r>
          </a:p>
        </p:txBody>
      </p:sp>
      <p:sp>
        <p:nvSpPr>
          <p:cNvPr id="56" name="TextBox 55"/>
          <p:cNvSpPr txBox="1"/>
          <p:nvPr/>
        </p:nvSpPr>
        <p:spPr>
          <a:xfrm>
            <a:off x="548640" y="4617720"/>
            <a:ext cx="6400800" cy="32004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Moh. Nazril Ilham  ·  22/493142/TK/54000</a:t>
            </a:r>
          </a:p>
        </p:txBody>
      </p:sp>
      <p:sp>
        <p:nvSpPr>
          <p:cNvPr id="57" name="TextBox 56"/>
          <p:cNvSpPr txBox="1"/>
          <p:nvPr/>
        </p:nvSpPr>
        <p:spPr>
          <a:xfrm>
            <a:off x="548640" y="4919472"/>
            <a:ext cx="6400800" cy="274320"/>
          </a:xfrm>
          <a:prstGeom prst="rect">
            <a:avLst/>
          </a:prstGeom>
          <a:noFill/>
        </p:spPr>
        <p:txBody>
          <a:bodyPr wrap="square" anchor="t" lIns="0" rIns="0" tIns="0" bIns="0">
            <a:spAutoFit/>
          </a:bodyPr>
          <a:lstStyle/>
          <a:p>
            <a:pPr algn="l">
              <a:lnSpc>
                <a:spcPct val="112000"/>
              </a:lnSpc>
              <a:spcAft>
                <a:spcPts val="200"/>
              </a:spcAft>
            </a:pPr>
            <a:r>
              <a:rPr sz="1000" b="0" i="0">
                <a:solidFill>
                  <a:srgbClr val="74889E"/>
                </a:solidFill>
                <a:latin typeface="Segoe UI"/>
              </a:rPr>
              <a:t>Departemen Teknik Elektro dan Teknologi Informasi · Universitas Gadjah Mada</a:t>
            </a:r>
          </a:p>
        </p:txBody>
      </p:sp>
      <p:sp>
        <p:nvSpPr>
          <p:cNvPr id="58" name="TextBox 57"/>
          <p:cNvSpPr txBox="1"/>
          <p:nvPr/>
        </p:nvSpPr>
        <p:spPr>
          <a:xfrm>
            <a:off x="548640" y="5559552"/>
            <a:ext cx="1554480" cy="365760"/>
          </a:xfrm>
          <a:prstGeom prst="rect">
            <a:avLst/>
          </a:prstGeom>
          <a:noFill/>
        </p:spPr>
        <p:txBody>
          <a:bodyPr wrap="square" anchor="t" lIns="0" rIns="0" tIns="0" bIns="0">
            <a:spAutoFit/>
          </a:bodyPr>
          <a:lstStyle/>
          <a:p>
            <a:pPr algn="l">
              <a:lnSpc>
                <a:spcPct val="112000"/>
              </a:lnSpc>
              <a:spcAft>
                <a:spcPts val="200"/>
              </a:spcAft>
            </a:pPr>
            <a:r>
              <a:rPr sz="1700" b="1" i="0">
                <a:solidFill>
                  <a:srgbClr val="E3B341"/>
                </a:solidFill>
                <a:latin typeface="Segoe UI"/>
              </a:rPr>
              <a:t>650.986</a:t>
            </a:r>
          </a:p>
        </p:txBody>
      </p:sp>
      <p:sp>
        <p:nvSpPr>
          <p:cNvPr id="59" name="TextBox 58"/>
          <p:cNvSpPr txBox="1"/>
          <p:nvPr/>
        </p:nvSpPr>
        <p:spPr>
          <a:xfrm>
            <a:off x="548640" y="5916168"/>
            <a:ext cx="1554480" cy="274320"/>
          </a:xfrm>
          <a:prstGeom prst="rect">
            <a:avLst/>
          </a:prstGeom>
          <a:noFill/>
        </p:spPr>
        <p:txBody>
          <a:bodyPr wrap="square" anchor="t" lIns="0" rIns="0" tIns="0" bIns="0">
            <a:spAutoFit/>
          </a:bodyPr>
          <a:lstStyle/>
          <a:p>
            <a:pPr algn="l">
              <a:lnSpc>
                <a:spcPct val="112000"/>
              </a:lnSpc>
              <a:spcAft>
                <a:spcPts val="200"/>
              </a:spcAft>
            </a:pPr>
            <a:r>
              <a:rPr sz="900" b="0" i="0">
                <a:solidFill>
                  <a:srgbClr val="74889E"/>
                </a:solidFill>
                <a:latin typeface="Segoe UI"/>
              </a:rPr>
              <a:t>entri hadis</a:t>
            </a:r>
          </a:p>
        </p:txBody>
      </p:sp>
      <p:sp>
        <p:nvSpPr>
          <p:cNvPr id="60" name="TextBox 59"/>
          <p:cNvSpPr txBox="1"/>
          <p:nvPr/>
        </p:nvSpPr>
        <p:spPr>
          <a:xfrm>
            <a:off x="2212848" y="5559552"/>
            <a:ext cx="1554480" cy="365760"/>
          </a:xfrm>
          <a:prstGeom prst="rect">
            <a:avLst/>
          </a:prstGeom>
          <a:noFill/>
        </p:spPr>
        <p:txBody>
          <a:bodyPr wrap="square" anchor="t" lIns="0" rIns="0" tIns="0" bIns="0">
            <a:spAutoFit/>
          </a:bodyPr>
          <a:lstStyle/>
          <a:p>
            <a:pPr algn="l">
              <a:lnSpc>
                <a:spcPct val="112000"/>
              </a:lnSpc>
              <a:spcAft>
                <a:spcPts val="200"/>
              </a:spcAft>
            </a:pPr>
            <a:r>
              <a:rPr sz="1700" b="1" i="0">
                <a:solidFill>
                  <a:srgbClr val="E3B341"/>
                </a:solidFill>
                <a:latin typeface="Segoe UI"/>
              </a:rPr>
              <a:t>926</a:t>
            </a:r>
          </a:p>
        </p:txBody>
      </p:sp>
      <p:sp>
        <p:nvSpPr>
          <p:cNvPr id="61" name="TextBox 60"/>
          <p:cNvSpPr txBox="1"/>
          <p:nvPr/>
        </p:nvSpPr>
        <p:spPr>
          <a:xfrm>
            <a:off x="2212848" y="5916168"/>
            <a:ext cx="1554480" cy="274320"/>
          </a:xfrm>
          <a:prstGeom prst="rect">
            <a:avLst/>
          </a:prstGeom>
          <a:noFill/>
        </p:spPr>
        <p:txBody>
          <a:bodyPr wrap="square" anchor="t" lIns="0" rIns="0" tIns="0" bIns="0">
            <a:spAutoFit/>
          </a:bodyPr>
          <a:lstStyle/>
          <a:p>
            <a:pPr algn="l">
              <a:lnSpc>
                <a:spcPct val="112000"/>
              </a:lnSpc>
              <a:spcAft>
                <a:spcPts val="200"/>
              </a:spcAft>
            </a:pPr>
            <a:r>
              <a:rPr sz="900" b="0" i="0">
                <a:solidFill>
                  <a:srgbClr val="74889E"/>
                </a:solidFill>
                <a:latin typeface="Segoe UI"/>
              </a:rPr>
              <a:t>kitab klasik</a:t>
            </a:r>
          </a:p>
        </p:txBody>
      </p:sp>
      <p:sp>
        <p:nvSpPr>
          <p:cNvPr id="62" name="TextBox 61"/>
          <p:cNvSpPr txBox="1"/>
          <p:nvPr/>
        </p:nvSpPr>
        <p:spPr>
          <a:xfrm>
            <a:off x="3877056" y="5559552"/>
            <a:ext cx="1554480" cy="365760"/>
          </a:xfrm>
          <a:prstGeom prst="rect">
            <a:avLst/>
          </a:prstGeom>
          <a:noFill/>
        </p:spPr>
        <p:txBody>
          <a:bodyPr wrap="square" anchor="t" lIns="0" rIns="0" tIns="0" bIns="0">
            <a:spAutoFit/>
          </a:bodyPr>
          <a:lstStyle/>
          <a:p>
            <a:pPr algn="l">
              <a:lnSpc>
                <a:spcPct val="112000"/>
              </a:lnSpc>
              <a:spcAft>
                <a:spcPts val="200"/>
              </a:spcAft>
            </a:pPr>
            <a:r>
              <a:rPr sz="1700" b="1" i="0">
                <a:solidFill>
                  <a:srgbClr val="E3B341"/>
                </a:solidFill>
                <a:latin typeface="Segoe UI"/>
              </a:rPr>
              <a:t>177.047</a:t>
            </a:r>
          </a:p>
        </p:txBody>
      </p:sp>
      <p:sp>
        <p:nvSpPr>
          <p:cNvPr id="63" name="TextBox 62"/>
          <p:cNvSpPr txBox="1"/>
          <p:nvPr/>
        </p:nvSpPr>
        <p:spPr>
          <a:xfrm>
            <a:off x="3877056" y="5916168"/>
            <a:ext cx="1554480" cy="274320"/>
          </a:xfrm>
          <a:prstGeom prst="rect">
            <a:avLst/>
          </a:prstGeom>
          <a:noFill/>
        </p:spPr>
        <p:txBody>
          <a:bodyPr wrap="square" anchor="t" lIns="0" rIns="0" tIns="0" bIns="0">
            <a:spAutoFit/>
          </a:bodyPr>
          <a:lstStyle/>
          <a:p>
            <a:pPr algn="l">
              <a:lnSpc>
                <a:spcPct val="112000"/>
              </a:lnSpc>
              <a:spcAft>
                <a:spcPts val="200"/>
              </a:spcAft>
            </a:pPr>
            <a:r>
              <a:rPr sz="900" b="0" i="0">
                <a:solidFill>
                  <a:srgbClr val="74889E"/>
                </a:solidFill>
                <a:latin typeface="Segoe UI"/>
              </a:rPr>
              <a:t>perawi (node)</a:t>
            </a:r>
          </a:p>
        </p:txBody>
      </p:sp>
      <p:sp>
        <p:nvSpPr>
          <p:cNvPr id="64" name="TextBox 63"/>
          <p:cNvSpPr txBox="1"/>
          <p:nvPr/>
        </p:nvSpPr>
        <p:spPr>
          <a:xfrm>
            <a:off x="5541264" y="5559552"/>
            <a:ext cx="1554480" cy="365760"/>
          </a:xfrm>
          <a:prstGeom prst="rect">
            <a:avLst/>
          </a:prstGeom>
          <a:noFill/>
        </p:spPr>
        <p:txBody>
          <a:bodyPr wrap="square" anchor="t" lIns="0" rIns="0" tIns="0" bIns="0">
            <a:spAutoFit/>
          </a:bodyPr>
          <a:lstStyle/>
          <a:p>
            <a:pPr algn="l">
              <a:lnSpc>
                <a:spcPct val="112000"/>
              </a:lnSpc>
              <a:spcAft>
                <a:spcPts val="200"/>
              </a:spcAft>
            </a:pPr>
            <a:r>
              <a:rPr sz="1700" b="1" i="0">
                <a:solidFill>
                  <a:srgbClr val="E3B341"/>
                </a:solidFill>
                <a:latin typeface="Segoe UI"/>
              </a:rPr>
              <a:t>776.798</a:t>
            </a:r>
          </a:p>
        </p:txBody>
      </p:sp>
      <p:sp>
        <p:nvSpPr>
          <p:cNvPr id="65" name="TextBox 64"/>
          <p:cNvSpPr txBox="1"/>
          <p:nvPr/>
        </p:nvSpPr>
        <p:spPr>
          <a:xfrm>
            <a:off x="5541264" y="5916168"/>
            <a:ext cx="1554480" cy="274320"/>
          </a:xfrm>
          <a:prstGeom prst="rect">
            <a:avLst/>
          </a:prstGeom>
          <a:noFill/>
        </p:spPr>
        <p:txBody>
          <a:bodyPr wrap="square" anchor="t" lIns="0" rIns="0" tIns="0" bIns="0">
            <a:spAutoFit/>
          </a:bodyPr>
          <a:lstStyle/>
          <a:p>
            <a:pPr algn="l">
              <a:lnSpc>
                <a:spcPct val="112000"/>
              </a:lnSpc>
              <a:spcAft>
                <a:spcPts val="200"/>
              </a:spcAft>
            </a:pPr>
            <a:r>
              <a:rPr sz="900" b="0" i="0">
                <a:solidFill>
                  <a:srgbClr val="74889E"/>
                </a:solidFill>
                <a:latin typeface="Segoe UI"/>
              </a:rPr>
              <a:t>relasi (edge)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588796" y="338195"/>
            <a:ext cx="210867" cy="7406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0395632" y="412256"/>
            <a:ext cx="193164" cy="43578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0078331" y="738319"/>
            <a:ext cx="27724" cy="2601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106055" y="764330"/>
            <a:ext cx="289577" cy="8371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078331" y="738319"/>
            <a:ext cx="27724" cy="2601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078331" y="738319"/>
            <a:ext cx="317301" cy="10972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588796" y="338195"/>
            <a:ext cx="210867" cy="7406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395632" y="338195"/>
            <a:ext cx="404031" cy="50984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0395632" y="848044"/>
            <a:ext cx="386506" cy="18234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0588796" y="412256"/>
            <a:ext cx="193342" cy="61813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0106055" y="764330"/>
            <a:ext cx="289577" cy="8371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0078331" y="738319"/>
            <a:ext cx="317301" cy="10972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518103" y="341563"/>
            <a:ext cx="141385" cy="141385"/>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2315" y="710591"/>
            <a:ext cx="107478" cy="107478"/>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44099" y="704086"/>
            <a:ext cx="68465" cy="68465"/>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762268" y="300800"/>
            <a:ext cx="74791" cy="74791"/>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2776" y="991031"/>
            <a:ext cx="78724" cy="78724"/>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307300" y="759712"/>
            <a:ext cx="176664" cy="176664"/>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02 · MASALAH</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Warisan Intelektual Raksasa, Terkunci dalam Teks</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Sanad adalah jejaring sosial ulama lintas generasi — tetapi selama ini hanya bisa dibaca sebagai daftar nama.</a:t>
            </a:r>
          </a:p>
        </p:txBody>
      </p:sp>
      <p:sp>
        <p:nvSpPr>
          <p:cNvPr id="25" name="Rounded Rectangle 24"/>
          <p:cNvSpPr/>
          <p:nvPr/>
        </p:nvSpPr>
        <p:spPr>
          <a:xfrm>
            <a:off x="548640" y="1920240"/>
            <a:ext cx="3593592" cy="251460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59" y="2194560"/>
            <a:ext cx="457200" cy="457200"/>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2295144"/>
            <a:ext cx="329184" cy="274320"/>
          </a:xfrm>
          <a:prstGeom prst="rect">
            <a:avLst/>
          </a:prstGeom>
          <a:noFill/>
        </p:spPr>
        <p:txBody>
          <a:bodyPr wrap="square" anchor="t" lIns="0" rIns="0" tIns="0" bIns="0">
            <a:spAutoFit/>
          </a:bodyPr>
          <a:lstStyle/>
          <a:p>
            <a:pPr algn="ctr">
              <a:lnSpc>
                <a:spcPct val="112000"/>
              </a:lnSpc>
              <a:spcAft>
                <a:spcPts val="200"/>
              </a:spcAft>
            </a:pPr>
            <a:r>
              <a:rPr sz="1400" b="1" i="0">
                <a:solidFill>
                  <a:srgbClr val="F2F6FA"/>
                </a:solidFill>
                <a:latin typeface="Segoe UI"/>
              </a:rPr>
              <a:t>1</a:t>
            </a:r>
          </a:p>
        </p:txBody>
      </p:sp>
      <p:sp>
        <p:nvSpPr>
          <p:cNvPr id="28" name="TextBox 27"/>
          <p:cNvSpPr txBox="1"/>
          <p:nvPr/>
        </p:nvSpPr>
        <p:spPr>
          <a:xfrm>
            <a:off x="822959" y="2852928"/>
            <a:ext cx="3063240" cy="365760"/>
          </a:xfrm>
          <a:prstGeom prst="rect">
            <a:avLst/>
          </a:prstGeom>
          <a:noFill/>
        </p:spPr>
        <p:txBody>
          <a:bodyPr wrap="square" anchor="t" lIns="0" rIns="0" tIns="0" bIns="0">
            <a:spAutoFit/>
          </a:bodyPr>
          <a:lstStyle/>
          <a:p>
            <a:pPr algn="l">
              <a:lnSpc>
                <a:spcPct val="112000"/>
              </a:lnSpc>
              <a:spcAft>
                <a:spcPts val="200"/>
              </a:spcAft>
            </a:pPr>
            <a:r>
              <a:rPr sz="1500" b="1" i="0">
                <a:solidFill>
                  <a:srgbClr val="F2F6FA"/>
                </a:solidFill>
                <a:latin typeface="Segoe UI"/>
              </a:rPr>
              <a:t>Skala tak tertangani</a:t>
            </a:r>
          </a:p>
        </p:txBody>
      </p:sp>
      <p:sp>
        <p:nvSpPr>
          <p:cNvPr id="29" name="TextBox 28"/>
          <p:cNvSpPr txBox="1"/>
          <p:nvPr/>
        </p:nvSpPr>
        <p:spPr>
          <a:xfrm>
            <a:off x="822959" y="3255264"/>
            <a:ext cx="3063240" cy="109728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Ratusan ribu perawi dan relasi periwayatan yang kompleks. Penelusuran isnad bundle secara manual tidak lagi memadai.</a:t>
            </a:r>
          </a:p>
        </p:txBody>
      </p:sp>
      <p:sp>
        <p:nvSpPr>
          <p:cNvPr id="30" name="Rounded Rectangle 29"/>
          <p:cNvSpPr/>
          <p:nvPr/>
        </p:nvSpPr>
        <p:spPr>
          <a:xfrm>
            <a:off x="4325112" y="1920240"/>
            <a:ext cx="3593592" cy="251460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99431" y="2194560"/>
            <a:ext cx="457200" cy="457200"/>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72583" y="2295144"/>
            <a:ext cx="329184" cy="274320"/>
          </a:xfrm>
          <a:prstGeom prst="rect">
            <a:avLst/>
          </a:prstGeom>
          <a:noFill/>
        </p:spPr>
        <p:txBody>
          <a:bodyPr wrap="square" anchor="t" lIns="0" rIns="0" tIns="0" bIns="0">
            <a:spAutoFit/>
          </a:bodyPr>
          <a:lstStyle/>
          <a:p>
            <a:pPr algn="ctr">
              <a:lnSpc>
                <a:spcPct val="112000"/>
              </a:lnSpc>
              <a:spcAft>
                <a:spcPts val="200"/>
              </a:spcAft>
            </a:pPr>
            <a:r>
              <a:rPr sz="1400" b="1" i="0">
                <a:solidFill>
                  <a:srgbClr val="F2F6FA"/>
                </a:solidFill>
                <a:latin typeface="Segoe UI"/>
              </a:rPr>
              <a:t>2</a:t>
            </a:r>
          </a:p>
        </p:txBody>
      </p:sp>
      <p:sp>
        <p:nvSpPr>
          <p:cNvPr id="33" name="TextBox 32"/>
          <p:cNvSpPr txBox="1"/>
          <p:nvPr/>
        </p:nvSpPr>
        <p:spPr>
          <a:xfrm>
            <a:off x="4599431" y="2852928"/>
            <a:ext cx="3063240" cy="365760"/>
          </a:xfrm>
          <a:prstGeom prst="rect">
            <a:avLst/>
          </a:prstGeom>
          <a:noFill/>
        </p:spPr>
        <p:txBody>
          <a:bodyPr wrap="square" anchor="t" lIns="0" rIns="0" tIns="0" bIns="0">
            <a:spAutoFit/>
          </a:bodyPr>
          <a:lstStyle/>
          <a:p>
            <a:pPr algn="l">
              <a:lnSpc>
                <a:spcPct val="112000"/>
              </a:lnSpc>
              <a:spcAft>
                <a:spcPts val="200"/>
              </a:spcAft>
            </a:pPr>
            <a:r>
              <a:rPr sz="1500" b="1" i="0">
                <a:solidFill>
                  <a:srgbClr val="F2F6FA"/>
                </a:solidFill>
                <a:latin typeface="Segoe UI"/>
              </a:rPr>
              <a:t>Pengaruh tak terukur</a:t>
            </a:r>
          </a:p>
        </p:txBody>
      </p:sp>
      <p:sp>
        <p:nvSpPr>
          <p:cNvPr id="34" name="TextBox 33"/>
          <p:cNvSpPr txBox="1"/>
          <p:nvPr/>
        </p:nvSpPr>
        <p:spPr>
          <a:xfrm>
            <a:off x="4599431" y="3255264"/>
            <a:ext cx="3063240" cy="109728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Siapa common link yang paling berpengaruh? Kajian klasik tidak menghasilkan ukuran kuantitatif yang dapat dibandingkan antarperawi.</a:t>
            </a:r>
          </a:p>
        </p:txBody>
      </p:sp>
      <p:sp>
        <p:nvSpPr>
          <p:cNvPr id="35" name="Rounded Rectangle 34"/>
          <p:cNvSpPr/>
          <p:nvPr/>
        </p:nvSpPr>
        <p:spPr>
          <a:xfrm>
            <a:off x="8101583" y="1920240"/>
            <a:ext cx="3593592" cy="251460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75904" y="2194560"/>
            <a:ext cx="457200" cy="457200"/>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49056" y="2295144"/>
            <a:ext cx="329184" cy="274320"/>
          </a:xfrm>
          <a:prstGeom prst="rect">
            <a:avLst/>
          </a:prstGeom>
          <a:noFill/>
        </p:spPr>
        <p:txBody>
          <a:bodyPr wrap="square" anchor="t" lIns="0" rIns="0" tIns="0" bIns="0">
            <a:spAutoFit/>
          </a:bodyPr>
          <a:lstStyle/>
          <a:p>
            <a:pPr algn="ctr">
              <a:lnSpc>
                <a:spcPct val="112000"/>
              </a:lnSpc>
              <a:spcAft>
                <a:spcPts val="200"/>
              </a:spcAft>
            </a:pPr>
            <a:r>
              <a:rPr sz="1400" b="1" i="0">
                <a:solidFill>
                  <a:srgbClr val="F2F6FA"/>
                </a:solidFill>
                <a:latin typeface="Segoe UI"/>
              </a:rPr>
              <a:t>3</a:t>
            </a:r>
          </a:p>
        </p:txBody>
      </p:sp>
      <p:sp>
        <p:nvSpPr>
          <p:cNvPr id="38" name="TextBox 37"/>
          <p:cNvSpPr txBox="1"/>
          <p:nvPr/>
        </p:nvSpPr>
        <p:spPr>
          <a:xfrm>
            <a:off x="8375904" y="2852928"/>
            <a:ext cx="3063240" cy="365760"/>
          </a:xfrm>
          <a:prstGeom prst="rect">
            <a:avLst/>
          </a:prstGeom>
          <a:noFill/>
        </p:spPr>
        <p:txBody>
          <a:bodyPr wrap="square" anchor="t" lIns="0" rIns="0" tIns="0" bIns="0">
            <a:spAutoFit/>
          </a:bodyPr>
          <a:lstStyle/>
          <a:p>
            <a:pPr algn="l">
              <a:lnSpc>
                <a:spcPct val="112000"/>
              </a:lnSpc>
              <a:spcAft>
                <a:spcPts val="200"/>
              </a:spcAft>
            </a:pPr>
            <a:r>
              <a:rPr sz="1500" b="1" i="0">
                <a:solidFill>
                  <a:srgbClr val="F2F6FA"/>
                </a:solidFill>
                <a:latin typeface="Segoe UI"/>
              </a:rPr>
              <a:t>Akses terbatas</a:t>
            </a:r>
          </a:p>
        </p:txBody>
      </p:sp>
      <p:sp>
        <p:nvSpPr>
          <p:cNvPr id="39" name="TextBox 38"/>
          <p:cNvSpPr txBox="1"/>
          <p:nvPr/>
        </p:nvSpPr>
        <p:spPr>
          <a:xfrm>
            <a:off x="8375904" y="3255264"/>
            <a:ext cx="3063240" cy="109728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Kajian jaringan perawi terkunci pada perangkat dan keahlian pakar — jauh dari jangkauan pelajar, peneliti muda, dan masyarakat.</a:t>
            </a:r>
          </a:p>
        </p:txBody>
      </p:sp>
      <p:sp>
        <p:nvSpPr>
          <p:cNvPr id="40" name="Rounded Rectangle 39"/>
          <p:cNvSpPr/>
          <p:nvPr/>
        </p:nvSpPr>
        <p:spPr>
          <a:xfrm>
            <a:off x="548640" y="4800600"/>
            <a:ext cx="11091672" cy="1051560"/>
          </a:xfrm>
          <a:prstGeom prst="roundRect">
            <a:avLst>
              <a:gd name="adj" fmla="val 9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4983480"/>
            <a:ext cx="2651760" cy="411480"/>
          </a:xfrm>
          <a:prstGeom prst="rect">
            <a:avLst/>
          </a:prstGeom>
          <a:noFill/>
        </p:spPr>
        <p:txBody>
          <a:bodyPr wrap="square" anchor="t" lIns="0" rIns="0" tIns="0" bIns="0">
            <a:spAutoFit/>
          </a:bodyPr>
          <a:lstStyle/>
          <a:p>
            <a:pPr algn="l">
              <a:lnSpc>
                <a:spcPct val="112000"/>
              </a:lnSpc>
              <a:spcAft>
                <a:spcPts val="200"/>
              </a:spcAft>
            </a:pPr>
            <a:r>
              <a:rPr sz="2000" b="1" i="0">
                <a:solidFill>
                  <a:srgbClr val="E3B341"/>
                </a:solidFill>
                <a:latin typeface="Segoe UI"/>
              </a:rPr>
              <a:t>650.986</a:t>
            </a:r>
          </a:p>
        </p:txBody>
      </p:sp>
      <p:sp>
        <p:nvSpPr>
          <p:cNvPr id="42" name="TextBox 41"/>
          <p:cNvSpPr txBox="1"/>
          <p:nvPr/>
        </p:nvSpPr>
        <p:spPr>
          <a:xfrm>
            <a:off x="868680" y="5413248"/>
            <a:ext cx="265176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ADBED1"/>
                </a:solidFill>
                <a:latin typeface="Segoe UI"/>
              </a:rPr>
              <a:t>entri hadis dalam korpus</a:t>
            </a:r>
          </a:p>
        </p:txBody>
      </p:sp>
      <p:sp>
        <p:nvSpPr>
          <p:cNvPr id="43" name="TextBox 42"/>
          <p:cNvSpPr txBox="1"/>
          <p:nvPr/>
        </p:nvSpPr>
        <p:spPr>
          <a:xfrm>
            <a:off x="3657600" y="4983480"/>
            <a:ext cx="2651760" cy="411480"/>
          </a:xfrm>
          <a:prstGeom prst="rect">
            <a:avLst/>
          </a:prstGeom>
          <a:noFill/>
        </p:spPr>
        <p:txBody>
          <a:bodyPr wrap="square" anchor="t" lIns="0" rIns="0" tIns="0" bIns="0">
            <a:spAutoFit/>
          </a:bodyPr>
          <a:lstStyle/>
          <a:p>
            <a:pPr algn="l">
              <a:lnSpc>
                <a:spcPct val="112000"/>
              </a:lnSpc>
              <a:spcAft>
                <a:spcPts val="200"/>
              </a:spcAft>
            </a:pPr>
            <a:r>
              <a:rPr sz="2000" b="1" i="0">
                <a:solidFill>
                  <a:srgbClr val="E3B341"/>
                </a:solidFill>
                <a:latin typeface="Segoe UI"/>
              </a:rPr>
              <a:t>926</a:t>
            </a:r>
          </a:p>
        </p:txBody>
      </p:sp>
      <p:sp>
        <p:nvSpPr>
          <p:cNvPr id="44" name="TextBox 43"/>
          <p:cNvSpPr txBox="1"/>
          <p:nvPr/>
        </p:nvSpPr>
        <p:spPr>
          <a:xfrm>
            <a:off x="3657600" y="5413248"/>
            <a:ext cx="265176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ADBED1"/>
                </a:solidFill>
                <a:latin typeface="Segoe UI"/>
              </a:rPr>
              <a:t>kitab hadis klasik</a:t>
            </a:r>
          </a:p>
        </p:txBody>
      </p:sp>
      <p:sp>
        <p:nvSpPr>
          <p:cNvPr id="45" name="TextBox 44"/>
          <p:cNvSpPr txBox="1"/>
          <p:nvPr/>
        </p:nvSpPr>
        <p:spPr>
          <a:xfrm>
            <a:off x="6446520" y="4983480"/>
            <a:ext cx="2651760" cy="411480"/>
          </a:xfrm>
          <a:prstGeom prst="rect">
            <a:avLst/>
          </a:prstGeom>
          <a:noFill/>
        </p:spPr>
        <p:txBody>
          <a:bodyPr wrap="square" anchor="t" lIns="0" rIns="0" tIns="0" bIns="0">
            <a:spAutoFit/>
          </a:bodyPr>
          <a:lstStyle/>
          <a:p>
            <a:pPr algn="l">
              <a:lnSpc>
                <a:spcPct val="112000"/>
              </a:lnSpc>
              <a:spcAft>
                <a:spcPts val="200"/>
              </a:spcAft>
            </a:pPr>
            <a:r>
              <a:rPr sz="2000" b="1" i="0">
                <a:solidFill>
                  <a:srgbClr val="E3B341"/>
                </a:solidFill>
                <a:latin typeface="Segoe UI"/>
              </a:rPr>
              <a:t>±14 abad</a:t>
            </a:r>
          </a:p>
        </p:txBody>
      </p:sp>
      <p:sp>
        <p:nvSpPr>
          <p:cNvPr id="46" name="TextBox 45"/>
          <p:cNvSpPr txBox="1"/>
          <p:nvPr/>
        </p:nvSpPr>
        <p:spPr>
          <a:xfrm>
            <a:off x="6446520" y="5413248"/>
            <a:ext cx="265176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ADBED1"/>
                </a:solidFill>
                <a:latin typeface="Segoe UI"/>
              </a:rPr>
              <a:t>rentang transmisi ilmu</a:t>
            </a:r>
          </a:p>
        </p:txBody>
      </p:sp>
      <p:sp>
        <p:nvSpPr>
          <p:cNvPr id="47" name="TextBox 46"/>
          <p:cNvSpPr txBox="1"/>
          <p:nvPr/>
        </p:nvSpPr>
        <p:spPr>
          <a:xfrm>
            <a:off x="9235439" y="4983480"/>
            <a:ext cx="2651760" cy="411480"/>
          </a:xfrm>
          <a:prstGeom prst="rect">
            <a:avLst/>
          </a:prstGeom>
          <a:noFill/>
        </p:spPr>
        <p:txBody>
          <a:bodyPr wrap="square" anchor="t" lIns="0" rIns="0" tIns="0" bIns="0">
            <a:spAutoFit/>
          </a:bodyPr>
          <a:lstStyle/>
          <a:p>
            <a:pPr algn="l">
              <a:lnSpc>
                <a:spcPct val="112000"/>
              </a:lnSpc>
              <a:spcAft>
                <a:spcPts val="200"/>
              </a:spcAft>
            </a:pPr>
            <a:r>
              <a:rPr sz="2000" b="1" i="0">
                <a:solidFill>
                  <a:srgbClr val="E3B341"/>
                </a:solidFill>
                <a:latin typeface="Segoe UI"/>
              </a:rPr>
              <a:t>&gt;177 rb</a:t>
            </a:r>
          </a:p>
        </p:txBody>
      </p:sp>
      <p:sp>
        <p:nvSpPr>
          <p:cNvPr id="48" name="TextBox 47"/>
          <p:cNvSpPr txBox="1"/>
          <p:nvPr/>
        </p:nvSpPr>
        <p:spPr>
          <a:xfrm>
            <a:off x="9235439" y="5413248"/>
            <a:ext cx="265176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ADBED1"/>
                </a:solidFill>
                <a:latin typeface="Segoe UI"/>
              </a:rPr>
              <a:t>nama perawi terlibat</a:t>
            </a:r>
          </a:p>
        </p:txBody>
      </p:sp>
      <p:sp>
        <p:nvSpPr>
          <p:cNvPr id="49" name="TextBox 48"/>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50" name="TextBox 49"/>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1064190" y="623260"/>
            <a:ext cx="61040" cy="4323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1064190" y="420833"/>
            <a:ext cx="157594" cy="24566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62718" y="502916"/>
            <a:ext cx="233644" cy="51510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62718" y="666496"/>
            <a:ext cx="701472" cy="35152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125230" y="420833"/>
            <a:ext cx="96554" cy="20242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064190" y="420833"/>
            <a:ext cx="157594" cy="24566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96362" y="502916"/>
            <a:ext cx="467828" cy="16358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596362" y="502916"/>
            <a:ext cx="528868" cy="12034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21784" y="315062"/>
            <a:ext cx="658804" cy="10577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125230" y="315062"/>
            <a:ext cx="755358" cy="30819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1064190" y="623260"/>
            <a:ext cx="61040" cy="4323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25230" y="420833"/>
            <a:ext cx="96554" cy="20242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997826" y="600132"/>
            <a:ext cx="132726" cy="13272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1763" y="937066"/>
            <a:ext cx="161909" cy="161909"/>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58833" y="357883"/>
            <a:ext cx="125901" cy="125901"/>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07726" y="414281"/>
            <a:ext cx="177271" cy="177271"/>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97460" y="231933"/>
            <a:ext cx="166257" cy="166257"/>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76369" y="574399"/>
            <a:ext cx="97722" cy="97722"/>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03 · CELAH RISET</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Analisisnya Sudah Ada. Aksesnya yang Belum.</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Riset jaringan perawi berkembang satu dekade terakhir — tetapi luarannya berhenti di perangkat lunak desktop.</a:t>
            </a:r>
          </a:p>
        </p:txBody>
      </p:sp>
      <p:sp>
        <p:nvSpPr>
          <p:cNvPr id="25" name="Rounded Rectangle 24"/>
          <p:cNvSpPr/>
          <p:nvPr/>
        </p:nvSpPr>
        <p:spPr>
          <a:xfrm>
            <a:off x="548640" y="1874519"/>
            <a:ext cx="5440680" cy="306324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2084831"/>
            <a:ext cx="4937760" cy="320040"/>
          </a:xfrm>
          <a:prstGeom prst="rect">
            <a:avLst/>
          </a:prstGeom>
          <a:noFill/>
        </p:spPr>
        <p:txBody>
          <a:bodyPr wrap="square" anchor="t" lIns="0" rIns="0" tIns="0" bIns="0">
            <a:spAutoFit/>
          </a:bodyPr>
          <a:lstStyle/>
          <a:p>
            <a:pPr algn="l">
              <a:lnSpc>
                <a:spcPct val="112000"/>
              </a:lnSpc>
              <a:spcAft>
                <a:spcPts val="200"/>
              </a:spcAft>
            </a:pPr>
            <a:r>
              <a:rPr sz="1100" b="1" i="0">
                <a:solidFill>
                  <a:srgbClr val="74889E"/>
                </a:solidFill>
                <a:latin typeface="Segoe UI"/>
              </a:rPr>
              <a:t>PENELITIAN TERDAHULU</a:t>
            </a:r>
          </a:p>
        </p:txBody>
      </p:sp>
      <p:sp>
        <p:nvSpPr>
          <p:cNvPr id="27" name="TextBox 26"/>
          <p:cNvSpPr txBox="1"/>
          <p:nvPr/>
        </p:nvSpPr>
        <p:spPr>
          <a:xfrm>
            <a:off x="822960" y="2487168"/>
            <a:ext cx="4937760" cy="2286000"/>
          </a:xfrm>
          <a:prstGeom prst="rect">
            <a:avLst/>
          </a:prstGeom>
          <a:noFill/>
        </p:spPr>
        <p:txBody>
          <a:bodyPr wrap="square" anchor="t" lIns="0" rIns="0" tIns="0" bIns="0">
            <a:spAutoFit/>
          </a:bodyPr>
          <a:lstStyle/>
          <a:p>
            <a:pPr algn="l">
              <a:lnSpc>
                <a:spcPct val="122000"/>
              </a:lnSpc>
              <a:spcAft>
                <a:spcPts val="800"/>
              </a:spcAft>
            </a:pPr>
            <a:r>
              <a:rPr sz="1150" b="1" i="0">
                <a:solidFill>
                  <a:srgbClr val="74889E"/>
                </a:solidFill>
                <a:latin typeface="Segoe UI"/>
              </a:rPr>
              <a:t>✕  </a:t>
            </a:r>
            <a:r>
              <a:rPr sz="1150" b="0" i="0">
                <a:solidFill>
                  <a:srgbClr val="ADBED1"/>
                </a:solidFill>
                <a:latin typeface="Segoe UI"/>
              </a:rPr>
              <a:t>KG dan SNA sudah diterapkan pada jaringan perawi (Farooqi 2024; Shuaib 2022)</a:t>
            </a:r>
          </a:p>
          <a:p>
            <a:pPr algn="l">
              <a:lnSpc>
                <a:spcPct val="122000"/>
              </a:lnSpc>
              <a:spcAft>
                <a:spcPts val="800"/>
              </a:spcAft>
            </a:pPr>
            <a:r>
              <a:rPr sz="1150" b="1" i="0">
                <a:solidFill>
                  <a:srgbClr val="74889E"/>
                </a:solidFill>
                <a:latin typeface="Segoe UI"/>
              </a:rPr>
              <a:t>✕  </a:t>
            </a:r>
            <a:r>
              <a:rPr sz="1150" b="0" i="0">
                <a:solidFill>
                  <a:srgbClr val="ADBED1"/>
                </a:solidFill>
                <a:latin typeface="Segoe UI"/>
              </a:rPr>
              <a:t>Luaran statis: gambar jaringan dan berkas graf</a:t>
            </a:r>
          </a:p>
          <a:p>
            <a:pPr algn="l">
              <a:lnSpc>
                <a:spcPct val="122000"/>
              </a:lnSpc>
              <a:spcAft>
                <a:spcPts val="800"/>
              </a:spcAft>
            </a:pPr>
            <a:r>
              <a:rPr sz="1150" b="1" i="0">
                <a:solidFill>
                  <a:srgbClr val="74889E"/>
                </a:solidFill>
                <a:latin typeface="Segoe UI"/>
              </a:rPr>
              <a:t>✕  </a:t>
            </a:r>
            <a:r>
              <a:rPr sz="1150" b="0" i="0">
                <a:solidFill>
                  <a:srgbClr val="ADBED1"/>
                </a:solidFill>
                <a:latin typeface="Segoe UI"/>
              </a:rPr>
              <a:t>Bergantung pada Gephi / Cytoscape — desktop, butuh instalasi dan keahlian khusus</a:t>
            </a:r>
          </a:p>
          <a:p>
            <a:pPr algn="l">
              <a:lnSpc>
                <a:spcPct val="122000"/>
              </a:lnSpc>
              <a:spcAft>
                <a:spcPts val="800"/>
              </a:spcAft>
            </a:pPr>
            <a:r>
              <a:rPr sz="1150" b="1" i="0">
                <a:solidFill>
                  <a:srgbClr val="74889E"/>
                </a:solidFill>
                <a:latin typeface="Segoe UI"/>
              </a:rPr>
              <a:t>✕  </a:t>
            </a:r>
            <a:r>
              <a:rPr sz="1150" b="0" i="0">
                <a:solidFill>
                  <a:srgbClr val="ADBED1"/>
                </a:solidFill>
                <a:latin typeface="Segoe UI"/>
              </a:rPr>
              <a:t>Prototipe visualisasi (CHN Visualizer) baru dirintis, belum terbuka luas</a:t>
            </a:r>
          </a:p>
        </p:txBody>
      </p:sp>
      <p:sp>
        <p:nvSpPr>
          <p:cNvPr id="28" name="Rounded Rectangle 27"/>
          <p:cNvSpPr/>
          <p:nvPr/>
        </p:nvSpPr>
        <p:spPr>
          <a:xfrm>
            <a:off x="6199632" y="1874519"/>
            <a:ext cx="5440680" cy="3063240"/>
          </a:xfrm>
          <a:prstGeom prst="roundRect">
            <a:avLst>
              <a:gd name="adj" fmla="val 6000"/>
            </a:avLst>
          </a:prstGeom>
          <a:solidFill>
            <a:srgbClr val="152A42"/>
          </a:solidFill>
          <a:ln w="17780">
            <a:solidFill>
              <a:srgbClr val="26A2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3952" y="2084831"/>
            <a:ext cx="4937760" cy="320040"/>
          </a:xfrm>
          <a:prstGeom prst="rect">
            <a:avLst/>
          </a:prstGeom>
          <a:noFill/>
        </p:spPr>
        <p:txBody>
          <a:bodyPr wrap="square" anchor="t" lIns="0" rIns="0" tIns="0" bIns="0">
            <a:spAutoFit/>
          </a:bodyPr>
          <a:lstStyle/>
          <a:p>
            <a:pPr algn="l">
              <a:lnSpc>
                <a:spcPct val="112000"/>
              </a:lnSpc>
              <a:spcAft>
                <a:spcPts val="200"/>
              </a:spcAft>
            </a:pPr>
            <a:r>
              <a:rPr sz="1100" b="1" i="0">
                <a:solidFill>
                  <a:srgbClr val="34C98B"/>
                </a:solidFill>
                <a:latin typeface="Segoe UI"/>
              </a:rPr>
              <a:t>YANG DIBUTUHKAN</a:t>
            </a:r>
          </a:p>
        </p:txBody>
      </p:sp>
      <p:sp>
        <p:nvSpPr>
          <p:cNvPr id="30" name="TextBox 29"/>
          <p:cNvSpPr txBox="1"/>
          <p:nvPr/>
        </p:nvSpPr>
        <p:spPr>
          <a:xfrm>
            <a:off x="6473952" y="2487168"/>
            <a:ext cx="4937760" cy="2286000"/>
          </a:xfrm>
          <a:prstGeom prst="rect">
            <a:avLst/>
          </a:prstGeom>
          <a:noFill/>
        </p:spPr>
        <p:txBody>
          <a:bodyPr wrap="square" anchor="t" lIns="0" rIns="0" tIns="0" bIns="0">
            <a:spAutoFit/>
          </a:bodyPr>
          <a:lstStyle/>
          <a:p>
            <a:pPr algn="l">
              <a:lnSpc>
                <a:spcPct val="122000"/>
              </a:lnSpc>
              <a:spcAft>
                <a:spcPts val="800"/>
              </a:spcAft>
            </a:pPr>
            <a:r>
              <a:rPr sz="1150" b="1" i="0">
                <a:solidFill>
                  <a:srgbClr val="34C98B"/>
                </a:solidFill>
                <a:latin typeface="Segoe UI"/>
              </a:rPr>
              <a:t>✓  </a:t>
            </a:r>
            <a:r>
              <a:rPr sz="1150" b="0" i="0">
                <a:solidFill>
                  <a:srgbClr val="ADBED1"/>
                </a:solidFill>
                <a:latin typeface="Segoe UI"/>
              </a:rPr>
              <a:t>Interaktif: zoom, cari, filter, telusuri tiap simpul secara langsung</a:t>
            </a:r>
          </a:p>
          <a:p>
            <a:pPr algn="l">
              <a:lnSpc>
                <a:spcPct val="122000"/>
              </a:lnSpc>
              <a:spcAft>
                <a:spcPts val="800"/>
              </a:spcAft>
            </a:pPr>
            <a:r>
              <a:rPr sz="1150" b="1" i="0">
                <a:solidFill>
                  <a:srgbClr val="34C98B"/>
                </a:solidFill>
                <a:latin typeface="Segoe UI"/>
              </a:rPr>
              <a:t>✓  </a:t>
            </a:r>
            <a:r>
              <a:rPr sz="1150" b="0" i="0">
                <a:solidFill>
                  <a:srgbClr val="ADBED1"/>
                </a:solidFill>
                <a:latin typeface="Segoe UI"/>
              </a:rPr>
              <a:t>Berbasis web — diakses publik tanpa instalasi apa pun</a:t>
            </a:r>
          </a:p>
          <a:p>
            <a:pPr algn="l">
              <a:lnSpc>
                <a:spcPct val="122000"/>
              </a:lnSpc>
              <a:spcAft>
                <a:spcPts val="800"/>
              </a:spcAft>
            </a:pPr>
            <a:r>
              <a:rPr sz="1150" b="1" i="0">
                <a:solidFill>
                  <a:srgbClr val="34C98B"/>
                </a:solidFill>
                <a:latin typeface="Segoe UI"/>
              </a:rPr>
              <a:t>✓  </a:t>
            </a:r>
            <a:r>
              <a:rPr sz="1150" b="0" i="0">
                <a:solidFill>
                  <a:srgbClr val="ADBED1"/>
                </a:solidFill>
                <a:latin typeface="Segoe UI"/>
              </a:rPr>
              <a:t>Pra-pemrosesan lebih bersih agar relasi guru–murid siap dianalisis</a:t>
            </a:r>
          </a:p>
          <a:p>
            <a:pPr algn="l">
              <a:lnSpc>
                <a:spcPct val="122000"/>
              </a:lnSpc>
              <a:spcAft>
                <a:spcPts val="800"/>
              </a:spcAft>
            </a:pPr>
            <a:r>
              <a:rPr sz="1150" b="1" i="0">
                <a:solidFill>
                  <a:srgbClr val="34C98B"/>
                </a:solidFill>
                <a:latin typeface="Segoe UI"/>
              </a:rPr>
              <a:t>✓  </a:t>
            </a:r>
            <a:r>
              <a:rPr sz="1150" b="0" i="0">
                <a:solidFill>
                  <a:srgbClr val="ADBED1"/>
                </a:solidFill>
                <a:latin typeface="Segoe UI"/>
              </a:rPr>
              <a:t>Sentralitas terukur dan tersaji, bukan sekadar gambar jaringan</a:t>
            </a:r>
          </a:p>
        </p:txBody>
      </p:sp>
      <p:sp>
        <p:nvSpPr>
          <p:cNvPr id="31" name="Rounded Rectangle 30"/>
          <p:cNvSpPr/>
          <p:nvPr/>
        </p:nvSpPr>
        <p:spPr>
          <a:xfrm>
            <a:off x="548640" y="5193792"/>
            <a:ext cx="11091672" cy="777240"/>
          </a:xfrm>
          <a:prstGeom prst="roundRect">
            <a:avLst>
              <a:gd name="adj" fmla="val 10000"/>
            </a:avLst>
          </a:prstGeom>
          <a:solidFill>
            <a:srgbClr val="112438"/>
          </a:solidFill>
          <a:ln w="15240">
            <a:solidFill>
              <a:srgbClr val="B08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376672"/>
            <a:ext cx="10515600" cy="457200"/>
          </a:xfrm>
          <a:prstGeom prst="rect">
            <a:avLst/>
          </a:prstGeom>
          <a:noFill/>
        </p:spPr>
        <p:txBody>
          <a:bodyPr wrap="square" anchor="t" lIns="0" rIns="0" tIns="0" bIns="0">
            <a:spAutoFit/>
          </a:bodyPr>
          <a:lstStyle/>
          <a:p>
            <a:pPr algn="l">
              <a:lnSpc>
                <a:spcPct val="112000"/>
              </a:lnSpc>
              <a:spcAft>
                <a:spcPts val="200"/>
              </a:spcAft>
            </a:pPr>
            <a:r>
              <a:rPr sz="1250" b="1" i="0">
                <a:solidFill>
                  <a:srgbClr val="E3B341"/>
                </a:solidFill>
                <a:latin typeface="Segoe UI"/>
              </a:rPr>
              <a:t>Celah riset:  </a:t>
            </a:r>
            <a:r>
              <a:rPr sz="1250" b="0" i="0">
                <a:solidFill>
                  <a:srgbClr val="F2F6FA"/>
                </a:solidFill>
                <a:latin typeface="Segoe UI"/>
              </a:rPr>
              <a:t>belum ada front-end web publik yang menyajikan knowledge graph sanad hadis beserta hasil analisis sentralitasnya secara interaktif.</a:t>
            </a:r>
          </a:p>
        </p:txBody>
      </p:sp>
      <p:sp>
        <p:nvSpPr>
          <p:cNvPr id="33" name="TextBox 32"/>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34" name="TextBox 33"/>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464318" y="668957"/>
            <a:ext cx="68453" cy="2319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10217000" y="760154"/>
            <a:ext cx="247318" cy="14076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1135238" y="287516"/>
            <a:ext cx="462651" cy="15663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532771" y="444146"/>
            <a:ext cx="1065118" cy="22481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217000" y="480208"/>
            <a:ext cx="32542" cy="27994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249542" y="480208"/>
            <a:ext cx="283229" cy="18874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217000" y="480208"/>
            <a:ext cx="32542" cy="27994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217000" y="760154"/>
            <a:ext cx="247318" cy="14076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0464318" y="668957"/>
            <a:ext cx="68453" cy="2319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217000" y="668957"/>
            <a:ext cx="315771" cy="9119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135238" y="287516"/>
            <a:ext cx="462651" cy="15663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532771" y="287516"/>
            <a:ext cx="602467" cy="38144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391655" y="828256"/>
            <a:ext cx="145326" cy="14532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552181" y="398438"/>
            <a:ext cx="91414" cy="91414"/>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73910" y="404577"/>
            <a:ext cx="151262" cy="151262"/>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72282" y="715436"/>
            <a:ext cx="89435" cy="89435"/>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0980" y="587166"/>
            <a:ext cx="163581" cy="163581"/>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86839" y="239118"/>
            <a:ext cx="96797" cy="96797"/>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04 · SOLUSI</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Satu Dashboard Web untuk Seluruh Jaringan Sanad</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Pipeline lengkap dari data mentah hingga eksplorasi publik — dibangun ujung ke ujung dalam penelitian ini.</a:t>
            </a:r>
          </a:p>
        </p:txBody>
      </p:sp>
      <p:sp>
        <p:nvSpPr>
          <p:cNvPr id="25" name="Rounded Rectangle 24"/>
          <p:cNvSpPr/>
          <p:nvPr/>
        </p:nvSpPr>
        <p:spPr>
          <a:xfrm>
            <a:off x="548640" y="1874519"/>
            <a:ext cx="2048256" cy="566928"/>
          </a:xfrm>
          <a:prstGeom prst="roundRect">
            <a:avLst>
              <a:gd name="adj" fmla="val 1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020824"/>
            <a:ext cx="1956816" cy="274320"/>
          </a:xfrm>
          <a:prstGeom prst="rect">
            <a:avLst/>
          </a:prstGeom>
          <a:noFill/>
        </p:spPr>
        <p:txBody>
          <a:bodyPr wrap="square" anchor="t" lIns="0" rIns="0" tIns="0" bIns="0">
            <a:spAutoFit/>
          </a:bodyPr>
          <a:lstStyle/>
          <a:p>
            <a:pPr algn="ctr">
              <a:lnSpc>
                <a:spcPct val="112000"/>
              </a:lnSpc>
              <a:spcAft>
                <a:spcPts val="200"/>
              </a:spcAft>
            </a:pPr>
            <a:r>
              <a:rPr sz="1150" b="1" i="0">
                <a:solidFill>
                  <a:srgbClr val="ADBED1"/>
                </a:solidFill>
                <a:latin typeface="Segoe UI"/>
              </a:rPr>
              <a:t>Sanadset 650K</a:t>
            </a:r>
          </a:p>
        </p:txBody>
      </p:sp>
      <p:sp>
        <p:nvSpPr>
          <p:cNvPr id="27" name="TextBox 26"/>
          <p:cNvSpPr txBox="1"/>
          <p:nvPr/>
        </p:nvSpPr>
        <p:spPr>
          <a:xfrm>
            <a:off x="2596896" y="1947672"/>
            <a:ext cx="274320" cy="365760"/>
          </a:xfrm>
          <a:prstGeom prst="rect">
            <a:avLst/>
          </a:prstGeom>
          <a:noFill/>
        </p:spPr>
        <p:txBody>
          <a:bodyPr wrap="square" anchor="t" lIns="0" rIns="0" tIns="0" bIns="0">
            <a:spAutoFit/>
          </a:bodyPr>
          <a:lstStyle/>
          <a:p>
            <a:pPr algn="ctr">
              <a:lnSpc>
                <a:spcPct val="112000"/>
              </a:lnSpc>
              <a:spcAft>
                <a:spcPts val="200"/>
              </a:spcAft>
            </a:pPr>
            <a:r>
              <a:rPr sz="1500" b="1" i="0">
                <a:solidFill>
                  <a:srgbClr val="E3B341"/>
                </a:solidFill>
                <a:latin typeface="Segoe UI"/>
              </a:rPr>
              <a:t>→</a:t>
            </a:r>
          </a:p>
        </p:txBody>
      </p:sp>
      <p:sp>
        <p:nvSpPr>
          <p:cNvPr id="28" name="Rounded Rectangle 27"/>
          <p:cNvSpPr/>
          <p:nvPr/>
        </p:nvSpPr>
        <p:spPr>
          <a:xfrm>
            <a:off x="2843784" y="1874519"/>
            <a:ext cx="2048256" cy="566928"/>
          </a:xfrm>
          <a:prstGeom prst="roundRect">
            <a:avLst>
              <a:gd name="adj" fmla="val 1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89503" y="2020824"/>
            <a:ext cx="1956816" cy="274320"/>
          </a:xfrm>
          <a:prstGeom prst="rect">
            <a:avLst/>
          </a:prstGeom>
          <a:noFill/>
        </p:spPr>
        <p:txBody>
          <a:bodyPr wrap="square" anchor="t" lIns="0" rIns="0" tIns="0" bIns="0">
            <a:spAutoFit/>
          </a:bodyPr>
          <a:lstStyle/>
          <a:p>
            <a:pPr algn="ctr">
              <a:lnSpc>
                <a:spcPct val="112000"/>
              </a:lnSpc>
              <a:spcAft>
                <a:spcPts val="200"/>
              </a:spcAft>
            </a:pPr>
            <a:r>
              <a:rPr sz="1150" b="1" i="0">
                <a:solidFill>
                  <a:srgbClr val="ADBED1"/>
                </a:solidFill>
                <a:latin typeface="Segoe UI"/>
              </a:rPr>
              <a:t>Pra-pemrosesan</a:t>
            </a:r>
          </a:p>
        </p:txBody>
      </p:sp>
      <p:sp>
        <p:nvSpPr>
          <p:cNvPr id="30" name="TextBox 29"/>
          <p:cNvSpPr txBox="1"/>
          <p:nvPr/>
        </p:nvSpPr>
        <p:spPr>
          <a:xfrm>
            <a:off x="4892040" y="1947672"/>
            <a:ext cx="274320" cy="365760"/>
          </a:xfrm>
          <a:prstGeom prst="rect">
            <a:avLst/>
          </a:prstGeom>
          <a:noFill/>
        </p:spPr>
        <p:txBody>
          <a:bodyPr wrap="square" anchor="t" lIns="0" rIns="0" tIns="0" bIns="0">
            <a:spAutoFit/>
          </a:bodyPr>
          <a:lstStyle/>
          <a:p>
            <a:pPr algn="ctr">
              <a:lnSpc>
                <a:spcPct val="112000"/>
              </a:lnSpc>
              <a:spcAft>
                <a:spcPts val="200"/>
              </a:spcAft>
            </a:pPr>
            <a:r>
              <a:rPr sz="1500" b="1" i="0">
                <a:solidFill>
                  <a:srgbClr val="E3B341"/>
                </a:solidFill>
                <a:latin typeface="Segoe UI"/>
              </a:rPr>
              <a:t>→</a:t>
            </a:r>
          </a:p>
        </p:txBody>
      </p:sp>
      <p:sp>
        <p:nvSpPr>
          <p:cNvPr id="31" name="Rounded Rectangle 30"/>
          <p:cNvSpPr/>
          <p:nvPr/>
        </p:nvSpPr>
        <p:spPr>
          <a:xfrm>
            <a:off x="5138927" y="1874519"/>
            <a:ext cx="2048256" cy="566928"/>
          </a:xfrm>
          <a:prstGeom prst="roundRect">
            <a:avLst>
              <a:gd name="adj" fmla="val 1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84647" y="2020824"/>
            <a:ext cx="1956816" cy="274320"/>
          </a:xfrm>
          <a:prstGeom prst="rect">
            <a:avLst/>
          </a:prstGeom>
          <a:noFill/>
        </p:spPr>
        <p:txBody>
          <a:bodyPr wrap="square" anchor="t" lIns="0" rIns="0" tIns="0" bIns="0">
            <a:spAutoFit/>
          </a:bodyPr>
          <a:lstStyle/>
          <a:p>
            <a:pPr algn="ctr">
              <a:lnSpc>
                <a:spcPct val="112000"/>
              </a:lnSpc>
              <a:spcAft>
                <a:spcPts val="200"/>
              </a:spcAft>
            </a:pPr>
            <a:r>
              <a:rPr sz="1150" b="1" i="0">
                <a:solidFill>
                  <a:srgbClr val="ADBED1"/>
                </a:solidFill>
                <a:latin typeface="Segoe UI"/>
              </a:rPr>
              <a:t>Knowledge Graph</a:t>
            </a:r>
          </a:p>
        </p:txBody>
      </p:sp>
      <p:sp>
        <p:nvSpPr>
          <p:cNvPr id="33" name="TextBox 32"/>
          <p:cNvSpPr txBox="1"/>
          <p:nvPr/>
        </p:nvSpPr>
        <p:spPr>
          <a:xfrm>
            <a:off x="7187183" y="1947672"/>
            <a:ext cx="274320" cy="365760"/>
          </a:xfrm>
          <a:prstGeom prst="rect">
            <a:avLst/>
          </a:prstGeom>
          <a:noFill/>
        </p:spPr>
        <p:txBody>
          <a:bodyPr wrap="square" anchor="t" lIns="0" rIns="0" tIns="0" bIns="0">
            <a:spAutoFit/>
          </a:bodyPr>
          <a:lstStyle/>
          <a:p>
            <a:pPr algn="ctr">
              <a:lnSpc>
                <a:spcPct val="112000"/>
              </a:lnSpc>
              <a:spcAft>
                <a:spcPts val="200"/>
              </a:spcAft>
            </a:pPr>
            <a:r>
              <a:rPr sz="1500" b="1" i="0">
                <a:solidFill>
                  <a:srgbClr val="E3B341"/>
                </a:solidFill>
                <a:latin typeface="Segoe UI"/>
              </a:rPr>
              <a:t>→</a:t>
            </a:r>
          </a:p>
        </p:txBody>
      </p:sp>
      <p:sp>
        <p:nvSpPr>
          <p:cNvPr id="34" name="Rounded Rectangle 33"/>
          <p:cNvSpPr/>
          <p:nvPr/>
        </p:nvSpPr>
        <p:spPr>
          <a:xfrm>
            <a:off x="7434071" y="1874519"/>
            <a:ext cx="2048256" cy="566928"/>
          </a:xfrm>
          <a:prstGeom prst="roundRect">
            <a:avLst>
              <a:gd name="adj" fmla="val 1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9792" y="2020824"/>
            <a:ext cx="1956816" cy="274320"/>
          </a:xfrm>
          <a:prstGeom prst="rect">
            <a:avLst/>
          </a:prstGeom>
          <a:noFill/>
        </p:spPr>
        <p:txBody>
          <a:bodyPr wrap="square" anchor="t" lIns="0" rIns="0" tIns="0" bIns="0">
            <a:spAutoFit/>
          </a:bodyPr>
          <a:lstStyle/>
          <a:p>
            <a:pPr algn="ctr">
              <a:lnSpc>
                <a:spcPct val="112000"/>
              </a:lnSpc>
              <a:spcAft>
                <a:spcPts val="200"/>
              </a:spcAft>
            </a:pPr>
            <a:r>
              <a:rPr sz="1150" b="1" i="0">
                <a:solidFill>
                  <a:srgbClr val="ADBED1"/>
                </a:solidFill>
                <a:latin typeface="Segoe UI"/>
              </a:rPr>
              <a:t>SNA · 5 Metrik</a:t>
            </a:r>
          </a:p>
        </p:txBody>
      </p:sp>
      <p:sp>
        <p:nvSpPr>
          <p:cNvPr id="36" name="TextBox 35"/>
          <p:cNvSpPr txBox="1"/>
          <p:nvPr/>
        </p:nvSpPr>
        <p:spPr>
          <a:xfrm>
            <a:off x="9482328" y="1947672"/>
            <a:ext cx="274320" cy="365760"/>
          </a:xfrm>
          <a:prstGeom prst="rect">
            <a:avLst/>
          </a:prstGeom>
          <a:noFill/>
        </p:spPr>
        <p:txBody>
          <a:bodyPr wrap="square" anchor="t" lIns="0" rIns="0" tIns="0" bIns="0">
            <a:spAutoFit/>
          </a:bodyPr>
          <a:lstStyle/>
          <a:p>
            <a:pPr algn="ctr">
              <a:lnSpc>
                <a:spcPct val="112000"/>
              </a:lnSpc>
              <a:spcAft>
                <a:spcPts val="200"/>
              </a:spcAft>
            </a:pPr>
            <a:r>
              <a:rPr sz="1500" b="1" i="0">
                <a:solidFill>
                  <a:srgbClr val="E3B341"/>
                </a:solidFill>
                <a:latin typeface="Segoe UI"/>
              </a:rPr>
              <a:t>→</a:t>
            </a:r>
          </a:p>
        </p:txBody>
      </p:sp>
      <p:sp>
        <p:nvSpPr>
          <p:cNvPr id="37" name="Rounded Rectangle 36"/>
          <p:cNvSpPr/>
          <p:nvPr/>
        </p:nvSpPr>
        <p:spPr>
          <a:xfrm>
            <a:off x="9729215" y="1874519"/>
            <a:ext cx="2048256" cy="566928"/>
          </a:xfrm>
          <a:prstGeom prst="roundRect">
            <a:avLst>
              <a:gd name="adj" fmla="val 16000"/>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4936" y="2020824"/>
            <a:ext cx="1956816" cy="274320"/>
          </a:xfrm>
          <a:prstGeom prst="rect">
            <a:avLst/>
          </a:prstGeom>
          <a:noFill/>
        </p:spPr>
        <p:txBody>
          <a:bodyPr wrap="square" anchor="t" lIns="0" rIns="0" tIns="0" bIns="0">
            <a:spAutoFit/>
          </a:bodyPr>
          <a:lstStyle/>
          <a:p>
            <a:pPr algn="ctr">
              <a:lnSpc>
                <a:spcPct val="112000"/>
              </a:lnSpc>
              <a:spcAft>
                <a:spcPts val="200"/>
              </a:spcAft>
            </a:pPr>
            <a:r>
              <a:rPr sz="1150" b="1" i="0">
                <a:solidFill>
                  <a:srgbClr val="F2F6FA"/>
                </a:solidFill>
                <a:latin typeface="Segoe UI"/>
              </a:rPr>
              <a:t>Dashboard Web</a:t>
            </a:r>
          </a:p>
        </p:txBody>
      </p:sp>
      <p:sp>
        <p:nvSpPr>
          <p:cNvPr id="39" name="Rounded Rectangle 38"/>
          <p:cNvSpPr/>
          <p:nvPr/>
        </p:nvSpPr>
        <p:spPr>
          <a:xfrm>
            <a:off x="548640" y="2834640"/>
            <a:ext cx="3593592" cy="260604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59" y="3054096"/>
            <a:ext cx="3017520" cy="274320"/>
          </a:xfrm>
          <a:prstGeom prst="rect">
            <a:avLst/>
          </a:prstGeom>
          <a:noFill/>
        </p:spPr>
        <p:txBody>
          <a:bodyPr wrap="square" anchor="t" lIns="0" rIns="0" tIns="0" bIns="0">
            <a:spAutoFit/>
          </a:bodyPr>
          <a:lstStyle/>
          <a:p>
            <a:pPr algn="l">
              <a:lnSpc>
                <a:spcPct val="112000"/>
              </a:lnSpc>
              <a:spcAft>
                <a:spcPts val="200"/>
              </a:spcAft>
            </a:pPr>
            <a:r>
              <a:rPr sz="1000" b="1" i="0">
                <a:solidFill>
                  <a:srgbClr val="E3B341"/>
                </a:solidFill>
                <a:latin typeface="Segoe UI"/>
              </a:rPr>
              <a:t>01 · BANGUN</a:t>
            </a:r>
          </a:p>
        </p:txBody>
      </p:sp>
      <p:sp>
        <p:nvSpPr>
          <p:cNvPr id="41" name="TextBox 40"/>
          <p:cNvSpPr txBox="1"/>
          <p:nvPr/>
        </p:nvSpPr>
        <p:spPr>
          <a:xfrm>
            <a:off x="822959" y="3346704"/>
            <a:ext cx="306324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Knowledge Graph Sanad</a:t>
            </a:r>
          </a:p>
        </p:txBody>
      </p:sp>
      <p:sp>
        <p:nvSpPr>
          <p:cNvPr id="42" name="TextBox 41"/>
          <p:cNvSpPr txBox="1"/>
          <p:nvPr/>
        </p:nvSpPr>
        <p:spPr>
          <a:xfrm>
            <a:off x="822959" y="3785615"/>
            <a:ext cx="3063240" cy="146304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Relasi guru–murid diekstraksi dari 487.451 rantai sanad menjadi tripel (Murid — meriwayatkan-dari → Guru), lalu dimodelkan sebagai graf berarah berbobot.</a:t>
            </a:r>
          </a:p>
        </p:txBody>
      </p:sp>
      <p:sp>
        <p:nvSpPr>
          <p:cNvPr id="43" name="Rounded Rectangle 42"/>
          <p:cNvSpPr/>
          <p:nvPr/>
        </p:nvSpPr>
        <p:spPr>
          <a:xfrm>
            <a:off x="4325112" y="2834640"/>
            <a:ext cx="3593592" cy="260604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99431" y="3054096"/>
            <a:ext cx="3017520" cy="274320"/>
          </a:xfrm>
          <a:prstGeom prst="rect">
            <a:avLst/>
          </a:prstGeom>
          <a:noFill/>
        </p:spPr>
        <p:txBody>
          <a:bodyPr wrap="square" anchor="t" lIns="0" rIns="0" tIns="0" bIns="0">
            <a:spAutoFit/>
          </a:bodyPr>
          <a:lstStyle/>
          <a:p>
            <a:pPr algn="l">
              <a:lnSpc>
                <a:spcPct val="112000"/>
              </a:lnSpc>
              <a:spcAft>
                <a:spcPts val="200"/>
              </a:spcAft>
            </a:pPr>
            <a:r>
              <a:rPr sz="1000" b="1" i="0">
                <a:solidFill>
                  <a:srgbClr val="E3B341"/>
                </a:solidFill>
                <a:latin typeface="Segoe UI"/>
              </a:rPr>
              <a:t>02 · UKUR</a:t>
            </a:r>
          </a:p>
        </p:txBody>
      </p:sp>
      <p:sp>
        <p:nvSpPr>
          <p:cNvPr id="45" name="TextBox 44"/>
          <p:cNvSpPr txBox="1"/>
          <p:nvPr/>
        </p:nvSpPr>
        <p:spPr>
          <a:xfrm>
            <a:off x="4599431" y="3346704"/>
            <a:ext cx="306324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Social Network Analysis</a:t>
            </a:r>
          </a:p>
        </p:txBody>
      </p:sp>
      <p:sp>
        <p:nvSpPr>
          <p:cNvPr id="46" name="TextBox 45"/>
          <p:cNvSpPr txBox="1"/>
          <p:nvPr/>
        </p:nvSpPr>
        <p:spPr>
          <a:xfrm>
            <a:off x="4599431" y="3785615"/>
            <a:ext cx="3063240" cy="146304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Lima metrik sentralitas mengkuantifikasi peran tiap perawi: in-degree, out-degree, eigenvector, closeness, dan betweenness centrality.</a:t>
            </a:r>
          </a:p>
        </p:txBody>
      </p:sp>
      <p:sp>
        <p:nvSpPr>
          <p:cNvPr id="47" name="Rounded Rectangle 46"/>
          <p:cNvSpPr/>
          <p:nvPr/>
        </p:nvSpPr>
        <p:spPr>
          <a:xfrm>
            <a:off x="8101583" y="2834640"/>
            <a:ext cx="3593592" cy="2606040"/>
          </a:xfrm>
          <a:prstGeom prst="roundRect">
            <a:avLst>
              <a:gd name="adj" fmla="val 7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75904" y="3054096"/>
            <a:ext cx="3017520" cy="274320"/>
          </a:xfrm>
          <a:prstGeom prst="rect">
            <a:avLst/>
          </a:prstGeom>
          <a:noFill/>
        </p:spPr>
        <p:txBody>
          <a:bodyPr wrap="square" anchor="t" lIns="0" rIns="0" tIns="0" bIns="0">
            <a:spAutoFit/>
          </a:bodyPr>
          <a:lstStyle/>
          <a:p>
            <a:pPr algn="l">
              <a:lnSpc>
                <a:spcPct val="112000"/>
              </a:lnSpc>
              <a:spcAft>
                <a:spcPts val="200"/>
              </a:spcAft>
            </a:pPr>
            <a:r>
              <a:rPr sz="1000" b="1" i="0">
                <a:solidFill>
                  <a:srgbClr val="E3B341"/>
                </a:solidFill>
                <a:latin typeface="Segoe UI"/>
              </a:rPr>
              <a:t>03 · SAJIKAN</a:t>
            </a:r>
          </a:p>
        </p:txBody>
      </p:sp>
      <p:sp>
        <p:nvSpPr>
          <p:cNvPr id="49" name="TextBox 48"/>
          <p:cNvSpPr txBox="1"/>
          <p:nvPr/>
        </p:nvSpPr>
        <p:spPr>
          <a:xfrm>
            <a:off x="8375904" y="3346704"/>
            <a:ext cx="306324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Front-End Interaktif</a:t>
            </a:r>
          </a:p>
        </p:txBody>
      </p:sp>
      <p:sp>
        <p:nvSpPr>
          <p:cNvPr id="50" name="TextBox 49"/>
          <p:cNvSpPr txBox="1"/>
          <p:nvPr/>
        </p:nvSpPr>
        <p:spPr>
          <a:xfrm>
            <a:off x="8375904" y="3785615"/>
            <a:ext cx="3063240" cy="1463040"/>
          </a:xfrm>
          <a:prstGeom prst="rect">
            <a:avLst/>
          </a:prstGeom>
          <a:noFill/>
        </p:spPr>
        <p:txBody>
          <a:bodyPr wrap="square" anchor="t" lIns="0" rIns="0" tIns="0" bIns="0">
            <a:spAutoFit/>
          </a:bodyPr>
          <a:lstStyle/>
          <a:p>
            <a:pPr algn="l">
              <a:lnSpc>
                <a:spcPct val="125000"/>
              </a:lnSpc>
              <a:spcAft>
                <a:spcPts val="200"/>
              </a:spcAft>
            </a:pPr>
            <a:r>
              <a:rPr sz="1100" b="0" i="0">
                <a:solidFill>
                  <a:srgbClr val="ADBED1"/>
                </a:solidFill>
                <a:latin typeface="Segoe UI"/>
              </a:rPr>
              <a:t>Dashboard web React dengan visualisasi graf force-directed — dapat diakses publik tanpa instalasi perangkat lunak apa pun.</a:t>
            </a:r>
          </a:p>
        </p:txBody>
      </p:sp>
      <p:sp>
        <p:nvSpPr>
          <p:cNvPr id="51" name="TextBox 50"/>
          <p:cNvSpPr txBox="1"/>
          <p:nvPr/>
        </p:nvSpPr>
        <p:spPr>
          <a:xfrm>
            <a:off x="548640" y="5650992"/>
            <a:ext cx="11064240" cy="320040"/>
          </a:xfrm>
          <a:prstGeom prst="rect">
            <a:avLst/>
          </a:prstGeom>
          <a:noFill/>
        </p:spPr>
        <p:txBody>
          <a:bodyPr wrap="square" anchor="t" lIns="0" rIns="0" tIns="0" bIns="0">
            <a:spAutoFit/>
          </a:bodyPr>
          <a:lstStyle/>
          <a:p>
            <a:pPr algn="l">
              <a:lnSpc>
                <a:spcPct val="112000"/>
              </a:lnSpc>
              <a:spcAft>
                <a:spcPts val="200"/>
              </a:spcAft>
            </a:pPr>
            <a:r>
              <a:rPr sz="1100" b="0" i="1">
                <a:solidFill>
                  <a:srgbClr val="74889E"/>
                </a:solidFill>
                <a:latin typeface="Segoe UI"/>
              </a:rPr>
              <a:t>Setiap pilar menjawab satu tujuan penelitian — membangun, mengukur, menyajikan.</a:t>
            </a:r>
          </a:p>
        </p:txBody>
      </p:sp>
      <p:sp>
        <p:nvSpPr>
          <p:cNvPr id="52" name="TextBox 51"/>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53" name="TextBox 52"/>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10546956" y="580701"/>
            <a:ext cx="114214" cy="13297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661170" y="648781"/>
            <a:ext cx="163674" cy="6489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0661170" y="648781"/>
            <a:ext cx="163674" cy="6489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10546956" y="580701"/>
            <a:ext cx="277888" cy="6808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464024" y="713671"/>
            <a:ext cx="197146" cy="14128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464024" y="580701"/>
            <a:ext cx="82932" cy="27425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6956" y="580701"/>
            <a:ext cx="114214" cy="13297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546956" y="580701"/>
            <a:ext cx="277888" cy="6808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394493" y="506125"/>
            <a:ext cx="408610" cy="5175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824844" y="557882"/>
            <a:ext cx="569649" cy="9089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1394493" y="506125"/>
            <a:ext cx="408610" cy="5175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824844" y="506125"/>
            <a:ext cx="978259" cy="14265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604384" y="656885"/>
            <a:ext cx="113571" cy="113571"/>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753749" y="577685"/>
            <a:ext cx="142190" cy="14219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31418" y="822354"/>
            <a:ext cx="65211" cy="65211"/>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06515" y="540260"/>
            <a:ext cx="80881" cy="80881"/>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315580" y="478969"/>
            <a:ext cx="157826" cy="15782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17990" y="421013"/>
            <a:ext cx="170224" cy="170224"/>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05 · DATASET &amp; PIPELINE</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Dari 650.986 Hadis Menjadi 487.451 Sanad Siap-Graf</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Sanadset 650K (Mghari et al., 2022) — korpus terbuka dari 926 kitab hadis klasik berbahasa Arab.</a:t>
            </a:r>
          </a:p>
        </p:txBody>
      </p:sp>
      <p:sp>
        <p:nvSpPr>
          <p:cNvPr id="25" name="Rounded Rectangle 24"/>
          <p:cNvSpPr/>
          <p:nvPr/>
        </p:nvSpPr>
        <p:spPr>
          <a:xfrm>
            <a:off x="548640" y="1920240"/>
            <a:ext cx="4572000" cy="457200"/>
          </a:xfrm>
          <a:prstGeom prst="roundRect">
            <a:avLst>
              <a:gd name="adj" fmla="val 35000"/>
            </a:avLst>
          </a:prstGeom>
          <a:solidFill>
            <a:srgbClr val="1A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2020824"/>
            <a:ext cx="4297680" cy="27432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650.986</a:t>
            </a:r>
          </a:p>
        </p:txBody>
      </p:sp>
      <p:sp>
        <p:nvSpPr>
          <p:cNvPr id="27" name="TextBox 26"/>
          <p:cNvSpPr txBox="1"/>
          <p:nvPr/>
        </p:nvSpPr>
        <p:spPr>
          <a:xfrm>
            <a:off x="5349240" y="1938528"/>
            <a:ext cx="1874519" cy="502920"/>
          </a:xfrm>
          <a:prstGeom prst="rect">
            <a:avLst/>
          </a:prstGeom>
          <a:noFill/>
        </p:spPr>
        <p:txBody>
          <a:bodyPr wrap="square" anchor="t" lIns="0" rIns="0" tIns="0" bIns="0">
            <a:spAutoFit/>
          </a:bodyPr>
          <a:lstStyle/>
          <a:p>
            <a:pPr algn="l">
              <a:lnSpc>
                <a:spcPct val="110000"/>
              </a:lnSpc>
              <a:spcAft>
                <a:spcPts val="200"/>
              </a:spcAft>
            </a:pPr>
            <a:r>
              <a:rPr sz="1000" b="0" i="0">
                <a:solidFill>
                  <a:srgbClr val="ADBED1"/>
                </a:solidFill>
                <a:latin typeface="Segoe UI"/>
              </a:rPr>
              <a:t>Data mentah Sanadset 650K</a:t>
            </a:r>
          </a:p>
        </p:txBody>
      </p:sp>
      <p:sp>
        <p:nvSpPr>
          <p:cNvPr id="28" name="Rounded Rectangle 27"/>
          <p:cNvSpPr/>
          <p:nvPr/>
        </p:nvSpPr>
        <p:spPr>
          <a:xfrm>
            <a:off x="548640" y="2852928"/>
            <a:ext cx="3451393" cy="457200"/>
          </a:xfrm>
          <a:prstGeom prst="roundRect">
            <a:avLst>
              <a:gd name="adj" fmla="val 35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2953512"/>
            <a:ext cx="3177073" cy="27432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491.428</a:t>
            </a:r>
          </a:p>
        </p:txBody>
      </p:sp>
      <p:sp>
        <p:nvSpPr>
          <p:cNvPr id="30" name="TextBox 29"/>
          <p:cNvSpPr txBox="1"/>
          <p:nvPr/>
        </p:nvSpPr>
        <p:spPr>
          <a:xfrm>
            <a:off x="5349240" y="2871216"/>
            <a:ext cx="1874519" cy="502920"/>
          </a:xfrm>
          <a:prstGeom prst="rect">
            <a:avLst/>
          </a:prstGeom>
          <a:noFill/>
        </p:spPr>
        <p:txBody>
          <a:bodyPr wrap="square" anchor="t" lIns="0" rIns="0" tIns="0" bIns="0">
            <a:spAutoFit/>
          </a:bodyPr>
          <a:lstStyle/>
          <a:p>
            <a:pPr algn="l">
              <a:lnSpc>
                <a:spcPct val="110000"/>
              </a:lnSpc>
              <a:spcAft>
                <a:spcPts val="200"/>
              </a:spcAft>
            </a:pPr>
            <a:r>
              <a:rPr sz="1000" b="0" i="0">
                <a:solidFill>
                  <a:srgbClr val="ADBED1"/>
                </a:solidFill>
                <a:latin typeface="Segoe UI"/>
              </a:rPr>
              <a:t>Setelah hapus baris tanpa sanad</a:t>
            </a:r>
          </a:p>
        </p:txBody>
      </p:sp>
      <p:sp>
        <p:nvSpPr>
          <p:cNvPr id="31" name="TextBox 30"/>
          <p:cNvSpPr txBox="1"/>
          <p:nvPr/>
        </p:nvSpPr>
        <p:spPr>
          <a:xfrm>
            <a:off x="749808" y="2578608"/>
            <a:ext cx="4937760" cy="228600"/>
          </a:xfrm>
          <a:prstGeom prst="rect">
            <a:avLst/>
          </a:prstGeom>
          <a:noFill/>
        </p:spPr>
        <p:txBody>
          <a:bodyPr wrap="square" anchor="t" lIns="0" rIns="0" tIns="0" bIns="0">
            <a:spAutoFit/>
          </a:bodyPr>
          <a:lstStyle/>
          <a:p>
            <a:pPr algn="l">
              <a:lnSpc>
                <a:spcPct val="112000"/>
              </a:lnSpc>
              <a:spcAft>
                <a:spcPts val="200"/>
              </a:spcAft>
            </a:pPr>
            <a:r>
              <a:rPr sz="900" b="0" i="0">
                <a:solidFill>
                  <a:srgbClr val="E3B341"/>
                </a:solidFill>
                <a:latin typeface="Segoe UI"/>
              </a:rPr>
              <a:t>− 159.558 · baris 'No SANAD'</a:t>
            </a:r>
          </a:p>
        </p:txBody>
      </p:sp>
      <p:sp>
        <p:nvSpPr>
          <p:cNvPr id="32" name="Rounded Rectangle 31"/>
          <p:cNvSpPr/>
          <p:nvPr/>
        </p:nvSpPr>
        <p:spPr>
          <a:xfrm>
            <a:off x="548640" y="3785616"/>
            <a:ext cx="3428687" cy="457200"/>
          </a:xfrm>
          <a:prstGeom prst="roundRect">
            <a:avLst>
              <a:gd name="adj" fmla="val 35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3886200"/>
            <a:ext cx="3154367" cy="27432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488.195</a:t>
            </a:r>
          </a:p>
        </p:txBody>
      </p:sp>
      <p:sp>
        <p:nvSpPr>
          <p:cNvPr id="34" name="TextBox 33"/>
          <p:cNvSpPr txBox="1"/>
          <p:nvPr/>
        </p:nvSpPr>
        <p:spPr>
          <a:xfrm>
            <a:off x="5349240" y="3803904"/>
            <a:ext cx="1874519" cy="502920"/>
          </a:xfrm>
          <a:prstGeom prst="rect">
            <a:avLst/>
          </a:prstGeom>
          <a:noFill/>
        </p:spPr>
        <p:txBody>
          <a:bodyPr wrap="square" anchor="t" lIns="0" rIns="0" tIns="0" bIns="0">
            <a:spAutoFit/>
          </a:bodyPr>
          <a:lstStyle/>
          <a:p>
            <a:pPr algn="l">
              <a:lnSpc>
                <a:spcPct val="110000"/>
              </a:lnSpc>
              <a:spcAft>
                <a:spcPts val="200"/>
              </a:spcAft>
            </a:pPr>
            <a:r>
              <a:rPr sz="1000" b="0" i="0">
                <a:solidFill>
                  <a:srgbClr val="ADBED1"/>
                </a:solidFill>
                <a:latin typeface="Segoe UI"/>
              </a:rPr>
              <a:t>Setelah hapus elemen 'Abu' tunggal</a:t>
            </a:r>
          </a:p>
        </p:txBody>
      </p:sp>
      <p:sp>
        <p:nvSpPr>
          <p:cNvPr id="35" name="TextBox 34"/>
          <p:cNvSpPr txBox="1"/>
          <p:nvPr/>
        </p:nvSpPr>
        <p:spPr>
          <a:xfrm>
            <a:off x="749808" y="3511296"/>
            <a:ext cx="4937760" cy="228600"/>
          </a:xfrm>
          <a:prstGeom prst="rect">
            <a:avLst/>
          </a:prstGeom>
          <a:noFill/>
        </p:spPr>
        <p:txBody>
          <a:bodyPr wrap="square" anchor="t" lIns="0" rIns="0" tIns="0" bIns="0">
            <a:spAutoFit/>
          </a:bodyPr>
          <a:lstStyle/>
          <a:p>
            <a:pPr algn="l">
              <a:lnSpc>
                <a:spcPct val="112000"/>
              </a:lnSpc>
              <a:spcAft>
                <a:spcPts val="200"/>
              </a:spcAft>
            </a:pPr>
            <a:r>
              <a:rPr sz="900" b="0" i="0">
                <a:solidFill>
                  <a:srgbClr val="E3B341"/>
                </a:solidFill>
                <a:latin typeface="Segoe UI"/>
              </a:rPr>
              <a:t>− 3.233 · nama ambigu</a:t>
            </a:r>
          </a:p>
        </p:txBody>
      </p:sp>
      <p:sp>
        <p:nvSpPr>
          <p:cNvPr id="36" name="Rounded Rectangle 35"/>
          <p:cNvSpPr/>
          <p:nvPr/>
        </p:nvSpPr>
        <p:spPr>
          <a:xfrm>
            <a:off x="548640" y="4718304"/>
            <a:ext cx="3423462" cy="457200"/>
          </a:xfrm>
          <a:prstGeom prst="roundRect">
            <a:avLst>
              <a:gd name="adj" fmla="val 35000"/>
            </a:avLst>
          </a:prstGeom>
          <a:solidFill>
            <a:srgbClr val="B08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818888"/>
            <a:ext cx="3149142" cy="27432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487.451</a:t>
            </a:r>
          </a:p>
        </p:txBody>
      </p:sp>
      <p:sp>
        <p:nvSpPr>
          <p:cNvPr id="38" name="TextBox 37"/>
          <p:cNvSpPr txBox="1"/>
          <p:nvPr/>
        </p:nvSpPr>
        <p:spPr>
          <a:xfrm>
            <a:off x="5349240" y="4736592"/>
            <a:ext cx="1874519" cy="502920"/>
          </a:xfrm>
          <a:prstGeom prst="rect">
            <a:avLst/>
          </a:prstGeom>
          <a:noFill/>
        </p:spPr>
        <p:txBody>
          <a:bodyPr wrap="square" anchor="t" lIns="0" rIns="0" tIns="0" bIns="0">
            <a:spAutoFit/>
          </a:bodyPr>
          <a:lstStyle/>
          <a:p>
            <a:pPr algn="l">
              <a:lnSpc>
                <a:spcPct val="110000"/>
              </a:lnSpc>
              <a:spcAft>
                <a:spcPts val="200"/>
              </a:spcAft>
            </a:pPr>
            <a:r>
              <a:rPr sz="1000" b="1" i="0">
                <a:solidFill>
                  <a:srgbClr val="F2F6FA"/>
                </a:solidFill>
                <a:latin typeface="Segoe UI"/>
              </a:rPr>
              <a:t>Rantai sanad bersih — siap dimodelkan</a:t>
            </a:r>
          </a:p>
        </p:txBody>
      </p:sp>
      <p:sp>
        <p:nvSpPr>
          <p:cNvPr id="39" name="TextBox 38"/>
          <p:cNvSpPr txBox="1"/>
          <p:nvPr/>
        </p:nvSpPr>
        <p:spPr>
          <a:xfrm>
            <a:off x="749808" y="4443984"/>
            <a:ext cx="4937760" cy="228600"/>
          </a:xfrm>
          <a:prstGeom prst="rect">
            <a:avLst/>
          </a:prstGeom>
          <a:noFill/>
        </p:spPr>
        <p:txBody>
          <a:bodyPr wrap="square" anchor="t" lIns="0" rIns="0" tIns="0" bIns="0">
            <a:spAutoFit/>
          </a:bodyPr>
          <a:lstStyle/>
          <a:p>
            <a:pPr algn="l">
              <a:lnSpc>
                <a:spcPct val="112000"/>
              </a:lnSpc>
              <a:spcAft>
                <a:spcPts val="200"/>
              </a:spcAft>
            </a:pPr>
            <a:r>
              <a:rPr sz="900" b="0" i="0">
                <a:solidFill>
                  <a:srgbClr val="E3B341"/>
                </a:solidFill>
                <a:latin typeface="Segoe UI"/>
              </a:rPr>
              <a:t>− 744 · diawali kata kekerabatan</a:t>
            </a:r>
          </a:p>
        </p:txBody>
      </p:sp>
      <p:sp>
        <p:nvSpPr>
          <p:cNvPr id="40" name="TextBox 39"/>
          <p:cNvSpPr txBox="1"/>
          <p:nvPr/>
        </p:nvSpPr>
        <p:spPr>
          <a:xfrm>
            <a:off x="548640" y="5623560"/>
            <a:ext cx="6035040" cy="365760"/>
          </a:xfrm>
          <a:prstGeom prst="rect">
            <a:avLst/>
          </a:prstGeom>
          <a:noFill/>
        </p:spPr>
        <p:txBody>
          <a:bodyPr wrap="square" anchor="t" lIns="0" rIns="0" tIns="0" bIns="0">
            <a:spAutoFit/>
          </a:bodyPr>
          <a:lstStyle/>
          <a:p>
            <a:pPr algn="l">
              <a:lnSpc>
                <a:spcPct val="112000"/>
              </a:lnSpc>
              <a:spcAft>
                <a:spcPts val="200"/>
              </a:spcAft>
            </a:pPr>
            <a:r>
              <a:rPr sz="1200" b="1" i="0">
                <a:solidFill>
                  <a:srgbClr val="34C98B"/>
                </a:solidFill>
                <a:latin typeface="Segoe UI"/>
              </a:rPr>
              <a:t>Hasil normalisasi:  </a:t>
            </a:r>
            <a:r>
              <a:rPr sz="1200" b="1" i="0">
                <a:solidFill>
                  <a:srgbClr val="F2F6FA"/>
                </a:solidFill>
                <a:latin typeface="Segoe UI"/>
              </a:rPr>
              <a:t>177.289 nama perawi unik teridentifikasi</a:t>
            </a:r>
          </a:p>
        </p:txBody>
      </p:sp>
      <p:sp>
        <p:nvSpPr>
          <p:cNvPr id="41" name="Rounded Rectangle 40"/>
          <p:cNvSpPr/>
          <p:nvPr/>
        </p:nvSpPr>
        <p:spPr>
          <a:xfrm>
            <a:off x="7360920" y="1874519"/>
            <a:ext cx="4279392" cy="3977639"/>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35240" y="2084831"/>
            <a:ext cx="3749039" cy="320040"/>
          </a:xfrm>
          <a:prstGeom prst="rect">
            <a:avLst/>
          </a:prstGeom>
          <a:noFill/>
        </p:spPr>
        <p:txBody>
          <a:bodyPr wrap="square" anchor="t" lIns="0" rIns="0" tIns="0" bIns="0">
            <a:spAutoFit/>
          </a:bodyPr>
          <a:lstStyle/>
          <a:p>
            <a:pPr algn="l">
              <a:lnSpc>
                <a:spcPct val="112000"/>
              </a:lnSpc>
              <a:spcAft>
                <a:spcPts val="200"/>
              </a:spcAft>
            </a:pPr>
            <a:r>
              <a:rPr sz="1100" b="1" i="0">
                <a:solidFill>
                  <a:srgbClr val="34C98B"/>
                </a:solidFill>
                <a:latin typeface="Segoe UI"/>
              </a:rPr>
              <a:t>NORMALISASI NAMA PERAWI</a:t>
            </a:r>
          </a:p>
        </p:txBody>
      </p:sp>
      <p:sp>
        <p:nvSpPr>
          <p:cNvPr id="43" name="TextBox 42"/>
          <p:cNvSpPr txBox="1"/>
          <p:nvPr/>
        </p:nvSpPr>
        <p:spPr>
          <a:xfrm>
            <a:off x="7635240" y="2487168"/>
            <a:ext cx="3794760" cy="2743200"/>
          </a:xfrm>
          <a:prstGeom prst="rect">
            <a:avLst/>
          </a:prstGeom>
          <a:noFill/>
        </p:spPr>
        <p:txBody>
          <a:bodyPr wrap="square" anchor="t" lIns="0" rIns="0" tIns="0" bIns="0">
            <a:spAutoFit/>
          </a:bodyPr>
          <a:lstStyle/>
          <a:p>
            <a:pPr algn="l">
              <a:lnSpc>
                <a:spcPct val="120000"/>
              </a:lnSpc>
              <a:spcAft>
                <a:spcPts val="900"/>
              </a:spcAft>
            </a:pPr>
            <a:r>
              <a:rPr sz="1100" b="1" i="0">
                <a:solidFill>
                  <a:srgbClr val="E3B341"/>
                </a:solidFill>
                <a:latin typeface="Segoe UI"/>
              </a:rPr>
              <a:t>1  </a:t>
            </a:r>
            <a:r>
              <a:rPr sz="1100" b="0" i="0">
                <a:solidFill>
                  <a:srgbClr val="ADBED1"/>
                </a:solidFill>
                <a:latin typeface="Segoe UI"/>
              </a:rPr>
              <a:t>Hapus harakat (diakritik Arab)</a:t>
            </a:r>
          </a:p>
          <a:p>
            <a:pPr algn="l">
              <a:lnSpc>
                <a:spcPct val="120000"/>
              </a:lnSpc>
              <a:spcAft>
                <a:spcPts val="900"/>
              </a:spcAft>
            </a:pPr>
            <a:r>
              <a:rPr sz="1100" b="1" i="0">
                <a:solidFill>
                  <a:srgbClr val="E3B341"/>
                </a:solidFill>
                <a:latin typeface="Segoe UI"/>
              </a:rPr>
              <a:t>2  </a:t>
            </a:r>
            <a:r>
              <a:rPr sz="1100" b="0" i="0">
                <a:solidFill>
                  <a:srgbClr val="ADBED1"/>
                </a:solidFill>
                <a:latin typeface="Segoe UI"/>
              </a:rPr>
              <a:t>Seragamkan alif · ya · ta marbuta</a:t>
            </a:r>
          </a:p>
          <a:p>
            <a:pPr algn="l">
              <a:lnSpc>
                <a:spcPct val="120000"/>
              </a:lnSpc>
              <a:spcAft>
                <a:spcPts val="900"/>
              </a:spcAft>
            </a:pPr>
            <a:r>
              <a:rPr sz="1100" b="1" i="0">
                <a:solidFill>
                  <a:srgbClr val="E3B341"/>
                </a:solidFill>
                <a:latin typeface="Segoe UI"/>
              </a:rPr>
              <a:t>3  </a:t>
            </a:r>
            <a:r>
              <a:rPr sz="1100" b="0" i="0">
                <a:solidFill>
                  <a:srgbClr val="ADBED1"/>
                </a:solidFill>
                <a:latin typeface="Segoe UI"/>
              </a:rPr>
              <a:t>Resolusi kekerabatan: Abihi → Abu [nama]</a:t>
            </a:r>
          </a:p>
          <a:p>
            <a:pPr algn="l">
              <a:lnSpc>
                <a:spcPct val="120000"/>
              </a:lnSpc>
              <a:spcAft>
                <a:spcPts val="900"/>
              </a:spcAft>
            </a:pPr>
            <a:r>
              <a:rPr sz="1100" b="1" i="0">
                <a:solidFill>
                  <a:srgbClr val="E3B341"/>
                </a:solidFill>
                <a:latin typeface="Segoe UI"/>
              </a:rPr>
              <a:t>4  </a:t>
            </a:r>
            <a:r>
              <a:rPr sz="1100" b="0" i="0">
                <a:solidFill>
                  <a:srgbClr val="ADBED1"/>
                </a:solidFill>
                <a:latin typeface="Segoe UI"/>
              </a:rPr>
              <a:t>Hapus lafal periwayatan (haddatsana, 'an, …)</a:t>
            </a:r>
          </a:p>
          <a:p>
            <a:pPr algn="l">
              <a:lnSpc>
                <a:spcPct val="120000"/>
              </a:lnSpc>
              <a:spcAft>
                <a:spcPts val="900"/>
              </a:spcAft>
            </a:pPr>
            <a:r>
              <a:rPr sz="1100" b="1" i="0">
                <a:solidFill>
                  <a:srgbClr val="E3B341"/>
                </a:solidFill>
                <a:latin typeface="Segoe UI"/>
              </a:rPr>
              <a:t>5  </a:t>
            </a:r>
            <a:r>
              <a:rPr sz="1100" b="0" i="0">
                <a:solidFill>
                  <a:srgbClr val="ADBED1"/>
                </a:solidFill>
                <a:latin typeface="Segoe UI"/>
              </a:rPr>
              <a:t>Seragamkan variasi Abu / Aba / Abi</a:t>
            </a:r>
          </a:p>
          <a:p>
            <a:pPr algn="l">
              <a:lnSpc>
                <a:spcPct val="120000"/>
              </a:lnSpc>
              <a:spcAft>
                <a:spcPts val="900"/>
              </a:spcAft>
            </a:pPr>
            <a:r>
              <a:rPr sz="1100" b="1" i="0">
                <a:solidFill>
                  <a:srgbClr val="E3B341"/>
                </a:solidFill>
                <a:latin typeface="Segoe UI"/>
              </a:rPr>
              <a:t>6  </a:t>
            </a:r>
            <a:r>
              <a:rPr sz="1100" b="0" i="0">
                <a:solidFill>
                  <a:srgbClr val="ADBED1"/>
                </a:solidFill>
                <a:latin typeface="Segoe UI"/>
              </a:rPr>
              <a:t>Saring karakter non-Arab</a:t>
            </a:r>
          </a:p>
        </p:txBody>
      </p:sp>
      <p:sp>
        <p:nvSpPr>
          <p:cNvPr id="44" name="TextBox 43"/>
          <p:cNvSpPr txBox="1"/>
          <p:nvPr/>
        </p:nvSpPr>
        <p:spPr>
          <a:xfrm>
            <a:off x="7635240" y="5349240"/>
            <a:ext cx="3749039" cy="457200"/>
          </a:xfrm>
          <a:prstGeom prst="rect">
            <a:avLst/>
          </a:prstGeom>
          <a:noFill/>
        </p:spPr>
        <p:txBody>
          <a:bodyPr wrap="square" anchor="t" lIns="0" rIns="0" tIns="0" bIns="0">
            <a:spAutoFit/>
          </a:bodyPr>
          <a:lstStyle/>
          <a:p>
            <a:pPr algn="l">
              <a:lnSpc>
                <a:spcPct val="120000"/>
              </a:lnSpc>
              <a:spcAft>
                <a:spcPts val="200"/>
              </a:spcAft>
            </a:pPr>
            <a:r>
              <a:rPr sz="950" b="0" i="1">
                <a:solidFill>
                  <a:srgbClr val="74889E"/>
                </a:solidFill>
                <a:latin typeface="Segoe UI"/>
              </a:rPr>
              <a:t>Tanpa langkah ini, satu perawi terpecah menjadi banyak node — sentralitas menjadi bias.</a:t>
            </a:r>
          </a:p>
        </p:txBody>
      </p:sp>
      <p:sp>
        <p:nvSpPr>
          <p:cNvPr id="45" name="TextBox 44"/>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46" name="TextBox 45"/>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flipV="1">
            <a:off x="10949146" y="634168"/>
            <a:ext cx="318058" cy="35787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11060037" y="458691"/>
            <a:ext cx="207167" cy="53335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949146" y="458691"/>
            <a:ext cx="110891" cy="17547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49146" y="634168"/>
            <a:ext cx="318058" cy="35787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467061" y="409888"/>
            <a:ext cx="55549" cy="16377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0173662" y="409888"/>
            <a:ext cx="348948" cy="16206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467061" y="409888"/>
            <a:ext cx="55549" cy="16377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10173662" y="571956"/>
            <a:ext cx="293399" cy="170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173662" y="571956"/>
            <a:ext cx="293399" cy="170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173662" y="409888"/>
            <a:ext cx="348948" cy="16206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0949146" y="458691"/>
            <a:ext cx="110891" cy="17547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0522610" y="409888"/>
            <a:ext cx="537427" cy="4880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204265" y="929104"/>
            <a:ext cx="125876" cy="12587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57896" y="542917"/>
            <a:ext cx="182501" cy="182501"/>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75088" y="362367"/>
            <a:ext cx="95042" cy="95042"/>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19134" y="525736"/>
            <a:ext cx="95855" cy="95855"/>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3169" y="521464"/>
            <a:ext cx="100984" cy="100984"/>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3826" y="422479"/>
            <a:ext cx="72422" cy="72422"/>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06 · KNOWLEDGE GRAPH</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Setiap Rantai Sanad Menjadi Tripel Terstruktur</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Perawi = entitas (node) · periwayatan = relasi (edge) · graf berarah berbobot dengan nx.DiGraph().</a:t>
            </a:r>
          </a:p>
        </p:txBody>
      </p:sp>
      <p:sp>
        <p:nvSpPr>
          <p:cNvPr id="25" name="Rounded Rectangle 24"/>
          <p:cNvSpPr/>
          <p:nvPr/>
        </p:nvSpPr>
        <p:spPr>
          <a:xfrm>
            <a:off x="548640" y="1874519"/>
            <a:ext cx="6583680" cy="2423160"/>
          </a:xfrm>
          <a:prstGeom prst="roundRect">
            <a:avLst>
              <a:gd name="adj" fmla="val 5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514600" y="2834640"/>
            <a:ext cx="2743200" cy="0"/>
          </a:xfrm>
          <a:prstGeom prst="line">
            <a:avLst/>
          </a:prstGeom>
          <a:ln w="27940">
            <a:solidFill>
              <a:srgbClr val="34C9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508760" y="2377440"/>
            <a:ext cx="914400" cy="914400"/>
          </a:xfrm>
          <a:prstGeom prst="ellipse">
            <a:avLst/>
          </a:prstGeom>
          <a:solidFill>
            <a:srgbClr val="1B5E44"/>
          </a:solidFill>
          <a:ln w="2032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17320" y="2715768"/>
            <a:ext cx="1097280" cy="274320"/>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MURID</a:t>
            </a:r>
          </a:p>
        </p:txBody>
      </p:sp>
      <p:sp>
        <p:nvSpPr>
          <p:cNvPr id="29" name="Oval 28"/>
          <p:cNvSpPr/>
          <p:nvPr/>
        </p:nvSpPr>
        <p:spPr>
          <a:xfrm>
            <a:off x="5349240" y="2377440"/>
            <a:ext cx="914400" cy="914400"/>
          </a:xfrm>
          <a:prstGeom prst="ellipse">
            <a:avLst/>
          </a:prstGeom>
          <a:solidFill>
            <a:srgbClr val="6E5A1F"/>
          </a:solidFill>
          <a:ln w="2032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7800" y="2715768"/>
            <a:ext cx="1097280" cy="274320"/>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GURU</a:t>
            </a:r>
          </a:p>
        </p:txBody>
      </p:sp>
      <p:sp>
        <p:nvSpPr>
          <p:cNvPr id="31" name="TextBox 30"/>
          <p:cNvSpPr txBox="1"/>
          <p:nvPr/>
        </p:nvSpPr>
        <p:spPr>
          <a:xfrm>
            <a:off x="2697480" y="2395728"/>
            <a:ext cx="2377440" cy="274320"/>
          </a:xfrm>
          <a:prstGeom prst="rect">
            <a:avLst/>
          </a:prstGeom>
          <a:noFill/>
        </p:spPr>
        <p:txBody>
          <a:bodyPr wrap="square" anchor="t" lIns="0" rIns="0" tIns="0" bIns="0">
            <a:spAutoFit/>
          </a:bodyPr>
          <a:lstStyle/>
          <a:p>
            <a:pPr algn="ctr">
              <a:lnSpc>
                <a:spcPct val="112000"/>
              </a:lnSpc>
              <a:spcAft>
                <a:spcPts val="200"/>
              </a:spcAft>
            </a:pPr>
            <a:r>
              <a:rPr sz="1050" b="0" i="1">
                <a:solidFill>
                  <a:srgbClr val="34C98B"/>
                </a:solidFill>
                <a:latin typeface="Segoe UI"/>
              </a:rPr>
              <a:t>meriwayatkan-dari</a:t>
            </a:r>
          </a:p>
        </p:txBody>
      </p:sp>
      <p:sp>
        <p:nvSpPr>
          <p:cNvPr id="32" name="TextBox 31"/>
          <p:cNvSpPr txBox="1"/>
          <p:nvPr/>
        </p:nvSpPr>
        <p:spPr>
          <a:xfrm>
            <a:off x="2697480" y="2944368"/>
            <a:ext cx="2377440" cy="274320"/>
          </a:xfrm>
          <a:prstGeom prst="rect">
            <a:avLst/>
          </a:prstGeom>
          <a:noFill/>
        </p:spPr>
        <p:txBody>
          <a:bodyPr wrap="square" anchor="t" lIns="0" rIns="0" tIns="0" bIns="0">
            <a:spAutoFit/>
          </a:bodyPr>
          <a:lstStyle/>
          <a:p>
            <a:pPr algn="ctr">
              <a:lnSpc>
                <a:spcPct val="112000"/>
              </a:lnSpc>
              <a:spcAft>
                <a:spcPts val="200"/>
              </a:spcAft>
            </a:pPr>
            <a:r>
              <a:rPr sz="900" b="0" i="0">
                <a:solidFill>
                  <a:srgbClr val="74889E"/>
                </a:solidFill>
                <a:latin typeface="Segoe UI"/>
              </a:rPr>
              <a:t>Weight = frekuensi relasi</a:t>
            </a:r>
          </a:p>
        </p:txBody>
      </p:sp>
      <p:sp>
        <p:nvSpPr>
          <p:cNvPr id="33" name="TextBox 32"/>
          <p:cNvSpPr txBox="1"/>
          <p:nvPr/>
        </p:nvSpPr>
        <p:spPr>
          <a:xfrm>
            <a:off x="822960" y="3611880"/>
            <a:ext cx="6035040" cy="594360"/>
          </a:xfrm>
          <a:prstGeom prst="rect">
            <a:avLst/>
          </a:prstGeom>
          <a:noFill/>
        </p:spPr>
        <p:txBody>
          <a:bodyPr wrap="square" anchor="t" lIns="0" rIns="0" tIns="0" bIns="0">
            <a:spAutoFit/>
          </a:bodyPr>
          <a:lstStyle/>
          <a:p>
            <a:pPr algn="l">
              <a:lnSpc>
                <a:spcPct val="125000"/>
              </a:lnSpc>
              <a:spcAft>
                <a:spcPts val="200"/>
              </a:spcAft>
            </a:pPr>
            <a:r>
              <a:rPr sz="1050" b="0" i="0">
                <a:solidFill>
                  <a:srgbClr val="ADBED1"/>
                </a:solidFill>
                <a:latin typeface="Segoe UI"/>
              </a:rPr>
              <a:t>Contoh — sanad 3 perawi menghasilkan 2 tripel:  </a:t>
            </a:r>
            <a:r>
              <a:rPr sz="1050" b="1" i="0">
                <a:solidFill>
                  <a:srgbClr val="F2F6FA"/>
                </a:solidFill>
                <a:latin typeface="Segoe UI"/>
              </a:rPr>
              <a:t>Abu Ubaidah → Jabir bin Zaid → Ibnu Abbas</a:t>
            </a:r>
          </a:p>
        </p:txBody>
      </p:sp>
      <p:sp>
        <p:nvSpPr>
          <p:cNvPr id="34" name="Rounded Rectangle 33"/>
          <p:cNvSpPr/>
          <p:nvPr/>
        </p:nvSpPr>
        <p:spPr>
          <a:xfrm>
            <a:off x="548640" y="4526280"/>
            <a:ext cx="6583680" cy="1325880"/>
          </a:xfrm>
          <a:prstGeom prst="roundRect">
            <a:avLst>
              <a:gd name="adj" fmla="val 8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700016"/>
            <a:ext cx="6126480" cy="1005840"/>
          </a:xfrm>
          <a:prstGeom prst="rect">
            <a:avLst/>
          </a:prstGeom>
          <a:noFill/>
        </p:spPr>
        <p:txBody>
          <a:bodyPr wrap="square" anchor="t" lIns="0" rIns="0" tIns="0" bIns="0">
            <a:spAutoFit/>
          </a:bodyPr>
          <a:lstStyle/>
          <a:p>
            <a:pPr algn="l">
              <a:lnSpc>
                <a:spcPct val="125000"/>
              </a:lnSpc>
              <a:spcAft>
                <a:spcPts val="600"/>
              </a:spcAft>
            </a:pPr>
            <a:r>
              <a:rPr sz="1100" b="1" i="0">
                <a:solidFill>
                  <a:srgbClr val="E3B341"/>
                </a:solidFill>
                <a:latin typeface="Segoe UI"/>
              </a:rPr>
              <a:t>Weight</a:t>
            </a:r>
            <a:r>
              <a:rPr sz="1100" b="0" i="0">
                <a:solidFill>
                  <a:srgbClr val="ADBED1"/>
                </a:solidFill>
                <a:latin typeface="Segoe UI"/>
              </a:rPr>
              <a:t>  = frekuensi pasangan guru–murid di seluruh korpus — makin tinggi, makin kuat relasinya.</a:t>
            </a:r>
          </a:p>
          <a:p>
            <a:pPr algn="l">
              <a:lnSpc>
                <a:spcPct val="125000"/>
              </a:lnSpc>
              <a:spcAft>
                <a:spcPts val="600"/>
              </a:spcAft>
            </a:pPr>
            <a:r>
              <a:rPr sz="1100" b="1" i="0">
                <a:solidFill>
                  <a:srgbClr val="E3B341"/>
                </a:solidFill>
                <a:latin typeface="Segoe UI"/>
              </a:rPr>
              <a:t>Inverse Weight</a:t>
            </a:r>
            <a:r>
              <a:rPr sz="1100" b="0" i="0">
                <a:solidFill>
                  <a:srgbClr val="ADBED1"/>
                </a:solidFill>
                <a:latin typeface="Segoe UI"/>
              </a:rPr>
              <a:t>  = 1/Weight — dipakai sebagai jarak pada metrik closeness &amp; betweenness.</a:t>
            </a:r>
          </a:p>
        </p:txBody>
      </p:sp>
      <p:sp>
        <p:nvSpPr>
          <p:cNvPr id="36" name="Rounded Rectangle 35"/>
          <p:cNvSpPr/>
          <p:nvPr/>
        </p:nvSpPr>
        <p:spPr>
          <a:xfrm>
            <a:off x="7360920" y="1874519"/>
            <a:ext cx="4279392" cy="932688"/>
          </a:xfrm>
          <a:prstGeom prst="roundRect">
            <a:avLst>
              <a:gd name="adj" fmla="val 1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62088" y="2002536"/>
            <a:ext cx="3913631" cy="502920"/>
          </a:xfrm>
          <a:prstGeom prst="rect">
            <a:avLst/>
          </a:prstGeom>
          <a:noFill/>
        </p:spPr>
        <p:txBody>
          <a:bodyPr wrap="square" anchor="t" lIns="0" rIns="0" tIns="0" bIns="0">
            <a:spAutoFit/>
          </a:bodyPr>
          <a:lstStyle/>
          <a:p>
            <a:pPr algn="l">
              <a:lnSpc>
                <a:spcPct val="112000"/>
              </a:lnSpc>
              <a:spcAft>
                <a:spcPts val="200"/>
              </a:spcAft>
            </a:pPr>
            <a:r>
              <a:rPr sz="2400" b="1" i="0">
                <a:solidFill>
                  <a:srgbClr val="34C98B"/>
                </a:solidFill>
                <a:latin typeface="Segoe UI"/>
              </a:rPr>
              <a:t>177.047</a:t>
            </a:r>
          </a:p>
        </p:txBody>
      </p:sp>
      <p:sp>
        <p:nvSpPr>
          <p:cNvPr id="38" name="TextBox 37"/>
          <p:cNvSpPr txBox="1"/>
          <p:nvPr/>
        </p:nvSpPr>
        <p:spPr>
          <a:xfrm>
            <a:off x="7562088" y="2423160"/>
            <a:ext cx="3913631" cy="329184"/>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simpul perawi unik</a:t>
            </a:r>
          </a:p>
        </p:txBody>
      </p:sp>
      <p:sp>
        <p:nvSpPr>
          <p:cNvPr id="39" name="Rounded Rectangle 38"/>
          <p:cNvSpPr/>
          <p:nvPr/>
        </p:nvSpPr>
        <p:spPr>
          <a:xfrm>
            <a:off x="7360920" y="2944368"/>
            <a:ext cx="4279392" cy="932688"/>
          </a:xfrm>
          <a:prstGeom prst="roundRect">
            <a:avLst>
              <a:gd name="adj" fmla="val 1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62088" y="3072384"/>
            <a:ext cx="3913631" cy="502920"/>
          </a:xfrm>
          <a:prstGeom prst="rect">
            <a:avLst/>
          </a:prstGeom>
          <a:noFill/>
        </p:spPr>
        <p:txBody>
          <a:bodyPr wrap="square" anchor="t" lIns="0" rIns="0" tIns="0" bIns="0">
            <a:spAutoFit/>
          </a:bodyPr>
          <a:lstStyle/>
          <a:p>
            <a:pPr algn="l">
              <a:lnSpc>
                <a:spcPct val="112000"/>
              </a:lnSpc>
              <a:spcAft>
                <a:spcPts val="200"/>
              </a:spcAft>
            </a:pPr>
            <a:r>
              <a:rPr sz="2400" b="1" i="0">
                <a:solidFill>
                  <a:srgbClr val="34C98B"/>
                </a:solidFill>
                <a:latin typeface="Segoe UI"/>
              </a:rPr>
              <a:t>776.798</a:t>
            </a:r>
          </a:p>
        </p:txBody>
      </p:sp>
      <p:sp>
        <p:nvSpPr>
          <p:cNvPr id="41" name="TextBox 40"/>
          <p:cNvSpPr txBox="1"/>
          <p:nvPr/>
        </p:nvSpPr>
        <p:spPr>
          <a:xfrm>
            <a:off x="7562088" y="3493008"/>
            <a:ext cx="3913631" cy="329184"/>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sisi relasi periwayatan</a:t>
            </a:r>
          </a:p>
        </p:txBody>
      </p:sp>
      <p:sp>
        <p:nvSpPr>
          <p:cNvPr id="42" name="Rounded Rectangle 41"/>
          <p:cNvSpPr/>
          <p:nvPr/>
        </p:nvSpPr>
        <p:spPr>
          <a:xfrm>
            <a:off x="7360920" y="4014215"/>
            <a:ext cx="4279392" cy="1828800"/>
          </a:xfrm>
          <a:prstGeom prst="roundRect">
            <a:avLst>
              <a:gd name="adj" fmla="val 8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35240" y="4187952"/>
            <a:ext cx="3749039" cy="274320"/>
          </a:xfrm>
          <a:prstGeom prst="rect">
            <a:avLst/>
          </a:prstGeom>
          <a:noFill/>
        </p:spPr>
        <p:txBody>
          <a:bodyPr wrap="square" anchor="t" lIns="0" rIns="0" tIns="0" bIns="0">
            <a:spAutoFit/>
          </a:bodyPr>
          <a:lstStyle/>
          <a:p>
            <a:pPr algn="l">
              <a:lnSpc>
                <a:spcPct val="112000"/>
              </a:lnSpc>
              <a:spcAft>
                <a:spcPts val="200"/>
              </a:spcAft>
            </a:pPr>
            <a:r>
              <a:rPr sz="1000" b="1" i="0">
                <a:solidFill>
                  <a:srgbClr val="74889E"/>
                </a:solidFill>
                <a:latin typeface="Segoe UI"/>
              </a:rPr>
              <a:t>RELASI TERKUAT</a:t>
            </a:r>
          </a:p>
        </p:txBody>
      </p:sp>
      <p:sp>
        <p:nvSpPr>
          <p:cNvPr id="44" name="TextBox 43"/>
          <p:cNvSpPr txBox="1"/>
          <p:nvPr/>
        </p:nvSpPr>
        <p:spPr>
          <a:xfrm>
            <a:off x="7635240" y="4480560"/>
            <a:ext cx="3749039" cy="365760"/>
          </a:xfrm>
          <a:prstGeom prst="rect">
            <a:avLst/>
          </a:prstGeom>
          <a:noFill/>
        </p:spPr>
        <p:txBody>
          <a:bodyPr wrap="square" anchor="t" lIns="0" rIns="0" tIns="0" bIns="0">
            <a:spAutoFit/>
          </a:bodyPr>
          <a:lstStyle/>
          <a:p>
            <a:pPr algn="l">
              <a:lnSpc>
                <a:spcPct val="112000"/>
              </a:lnSpc>
              <a:spcAft>
                <a:spcPts val="200"/>
              </a:spcAft>
            </a:pPr>
            <a:r>
              <a:rPr sz="1500" b="1" i="0">
                <a:solidFill>
                  <a:srgbClr val="F2F6FA"/>
                </a:solidFill>
                <a:latin typeface="Segoe UI"/>
              </a:rPr>
              <a:t>Ibnu Umar → Nafi'</a:t>
            </a:r>
          </a:p>
        </p:txBody>
      </p:sp>
      <p:sp>
        <p:nvSpPr>
          <p:cNvPr id="45" name="TextBox 44"/>
          <p:cNvSpPr txBox="1"/>
          <p:nvPr/>
        </p:nvSpPr>
        <p:spPr>
          <a:xfrm>
            <a:off x="7635240" y="4864608"/>
            <a:ext cx="3749039" cy="365760"/>
          </a:xfrm>
          <a:prstGeom prst="rect">
            <a:avLst/>
          </a:prstGeom>
          <a:noFill/>
        </p:spPr>
        <p:txBody>
          <a:bodyPr wrap="square" anchor="t" lIns="0" rIns="0" tIns="0" bIns="0">
            <a:spAutoFit/>
          </a:bodyPr>
          <a:lstStyle/>
          <a:p>
            <a:pPr algn="l">
              <a:lnSpc>
                <a:spcPct val="112000"/>
              </a:lnSpc>
              <a:spcAft>
                <a:spcPts val="200"/>
              </a:spcAft>
            </a:pPr>
            <a:r>
              <a:rPr sz="1500" b="1" i="0">
                <a:solidFill>
                  <a:srgbClr val="E3B341"/>
                </a:solidFill>
                <a:latin typeface="Segoe UI"/>
              </a:rPr>
              <a:t>11.346×</a:t>
            </a:r>
            <a:r>
              <a:rPr sz="1050" b="0" i="0">
                <a:solidFill>
                  <a:srgbClr val="ADBED1"/>
                </a:solidFill>
                <a:latin typeface="Segoe UI"/>
              </a:rPr>
              <a:t>  tercatat dalam korpus</a:t>
            </a:r>
          </a:p>
        </p:txBody>
      </p:sp>
      <p:sp>
        <p:nvSpPr>
          <p:cNvPr id="46" name="TextBox 45"/>
          <p:cNvSpPr txBox="1"/>
          <p:nvPr/>
        </p:nvSpPr>
        <p:spPr>
          <a:xfrm>
            <a:off x="7635240" y="5285232"/>
            <a:ext cx="3749039" cy="457200"/>
          </a:xfrm>
          <a:prstGeom prst="rect">
            <a:avLst/>
          </a:prstGeom>
          <a:noFill/>
        </p:spPr>
        <p:txBody>
          <a:bodyPr wrap="square" anchor="t" lIns="0" rIns="0" tIns="0" bIns="0">
            <a:spAutoFit/>
          </a:bodyPr>
          <a:lstStyle/>
          <a:p>
            <a:pPr algn="l">
              <a:lnSpc>
                <a:spcPct val="120000"/>
              </a:lnSpc>
              <a:spcAft>
                <a:spcPts val="200"/>
              </a:spcAft>
            </a:pPr>
            <a:r>
              <a:rPr sz="950" b="0" i="1">
                <a:solidFill>
                  <a:srgbClr val="74889E"/>
                </a:solidFill>
                <a:latin typeface="Segoe UI"/>
              </a:rPr>
              <a:t>Jalur backbone periwayatan yang dikenal kuat dalam ilmu hadis.</a:t>
            </a:r>
          </a:p>
        </p:txBody>
      </p:sp>
      <p:sp>
        <p:nvSpPr>
          <p:cNvPr id="47" name="TextBox 46"/>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48" name="TextBox 47"/>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1806951" y="402673"/>
            <a:ext cx="77619" cy="4012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11740972" y="402673"/>
            <a:ext cx="65979" cy="51914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1806951" y="402673"/>
            <a:ext cx="77619" cy="4012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1740972" y="442801"/>
            <a:ext cx="143598" cy="47901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121297" y="590377"/>
            <a:ext cx="96548" cy="53624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217845" y="402673"/>
            <a:ext cx="589106" cy="18770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411959" y="1126620"/>
            <a:ext cx="709338" cy="2505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411959" y="590377"/>
            <a:ext cx="805886" cy="56129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21297" y="590377"/>
            <a:ext cx="96548" cy="53624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21297" y="921820"/>
            <a:ext cx="619675" cy="20480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740972" y="442801"/>
            <a:ext cx="143598" cy="47901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740972" y="402673"/>
            <a:ext cx="65979" cy="51914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773544" y="369265"/>
            <a:ext cx="66815" cy="66815"/>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845399" y="403630"/>
            <a:ext cx="78343" cy="78343"/>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32969" y="505502"/>
            <a:ext cx="169750" cy="169750"/>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60968" y="1100682"/>
            <a:ext cx="101981" cy="101981"/>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48564" y="1053887"/>
            <a:ext cx="145466" cy="14546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06089" y="886937"/>
            <a:ext cx="69766" cy="69766"/>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07 · SOCIAL NETWORK ANALYSIS</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Lima Lensa untuk Membaca Peran Ulama</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Setiap metrik sentralitas menangkap dimensi peran yang berbeda dalam jaringan periwayatan.</a:t>
            </a:r>
          </a:p>
        </p:txBody>
      </p:sp>
      <p:sp>
        <p:nvSpPr>
          <p:cNvPr id="25" name="Rounded Rectangle 24"/>
          <p:cNvSpPr/>
          <p:nvPr/>
        </p:nvSpPr>
        <p:spPr>
          <a:xfrm>
            <a:off x="548640" y="1874519"/>
            <a:ext cx="2112264" cy="2514600"/>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2130551"/>
            <a:ext cx="402336" cy="402336"/>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0976" y="2258568"/>
            <a:ext cx="146304" cy="146304"/>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2761488"/>
            <a:ext cx="1783080" cy="32004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In-Degree</a:t>
            </a:r>
          </a:p>
        </p:txBody>
      </p:sp>
      <p:sp>
        <p:nvSpPr>
          <p:cNvPr id="29" name="TextBox 28"/>
          <p:cNvSpPr txBox="1"/>
          <p:nvPr/>
        </p:nvSpPr>
        <p:spPr>
          <a:xfrm>
            <a:off x="768096" y="3090672"/>
            <a:ext cx="1783080" cy="274320"/>
          </a:xfrm>
          <a:prstGeom prst="rect">
            <a:avLst/>
          </a:prstGeom>
          <a:noFill/>
        </p:spPr>
        <p:txBody>
          <a:bodyPr wrap="square" anchor="t" lIns="0" rIns="0" tIns="0" bIns="0">
            <a:spAutoFit/>
          </a:bodyPr>
          <a:lstStyle/>
          <a:p>
            <a:pPr algn="l">
              <a:lnSpc>
                <a:spcPct val="112000"/>
              </a:lnSpc>
              <a:spcAft>
                <a:spcPts val="200"/>
              </a:spcAft>
            </a:pPr>
            <a:r>
              <a:rPr sz="1050" b="0" i="1">
                <a:solidFill>
                  <a:srgbClr val="E3B341"/>
                </a:solidFill>
                <a:latin typeface="Segoe UI"/>
              </a:rPr>
              <a:t>Guru dominan</a:t>
            </a:r>
          </a:p>
        </p:txBody>
      </p:sp>
      <p:sp>
        <p:nvSpPr>
          <p:cNvPr id="30" name="TextBox 29"/>
          <p:cNvSpPr txBox="1"/>
          <p:nvPr/>
        </p:nvSpPr>
        <p:spPr>
          <a:xfrm>
            <a:off x="768096" y="3401568"/>
            <a:ext cx="1737360" cy="914400"/>
          </a:xfrm>
          <a:prstGeom prst="rect">
            <a:avLst/>
          </a:prstGeom>
          <a:noFill/>
        </p:spPr>
        <p:txBody>
          <a:bodyPr wrap="square" anchor="t" lIns="0" rIns="0" tIns="0" bIns="0">
            <a:spAutoFit/>
          </a:bodyPr>
          <a:lstStyle/>
          <a:p>
            <a:pPr algn="l">
              <a:lnSpc>
                <a:spcPct val="120000"/>
              </a:lnSpc>
              <a:spcAft>
                <a:spcPts val="200"/>
              </a:spcAft>
            </a:pPr>
            <a:r>
              <a:rPr sz="950" b="0" i="0">
                <a:solidFill>
                  <a:srgbClr val="ADBED1"/>
                </a:solidFill>
                <a:latin typeface="Segoe UI"/>
              </a:rPr>
              <a:t>Banyak murid meriwayatkan darinya — sumber riwayat utama.</a:t>
            </a:r>
          </a:p>
        </p:txBody>
      </p:sp>
      <p:sp>
        <p:nvSpPr>
          <p:cNvPr id="31" name="Rounded Rectangle 30"/>
          <p:cNvSpPr/>
          <p:nvPr/>
        </p:nvSpPr>
        <p:spPr>
          <a:xfrm>
            <a:off x="2807208" y="1874519"/>
            <a:ext cx="2112264" cy="2514600"/>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081528" y="2130551"/>
            <a:ext cx="402336" cy="402336"/>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209544" y="2258568"/>
            <a:ext cx="146304" cy="146304"/>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26664" y="2761488"/>
            <a:ext cx="1783080" cy="32004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Out-Degree</a:t>
            </a:r>
          </a:p>
        </p:txBody>
      </p:sp>
      <p:sp>
        <p:nvSpPr>
          <p:cNvPr id="35" name="TextBox 34"/>
          <p:cNvSpPr txBox="1"/>
          <p:nvPr/>
        </p:nvSpPr>
        <p:spPr>
          <a:xfrm>
            <a:off x="3026664" y="3090672"/>
            <a:ext cx="1783080" cy="274320"/>
          </a:xfrm>
          <a:prstGeom prst="rect">
            <a:avLst/>
          </a:prstGeom>
          <a:noFill/>
        </p:spPr>
        <p:txBody>
          <a:bodyPr wrap="square" anchor="t" lIns="0" rIns="0" tIns="0" bIns="0">
            <a:spAutoFit/>
          </a:bodyPr>
          <a:lstStyle/>
          <a:p>
            <a:pPr algn="l">
              <a:lnSpc>
                <a:spcPct val="112000"/>
              </a:lnSpc>
              <a:spcAft>
                <a:spcPts val="200"/>
              </a:spcAft>
            </a:pPr>
            <a:r>
              <a:rPr sz="1050" b="0" i="1">
                <a:solidFill>
                  <a:srgbClr val="E3B341"/>
                </a:solidFill>
                <a:latin typeface="Segoe UI"/>
              </a:rPr>
              <a:t>Murid aktif</a:t>
            </a:r>
          </a:p>
        </p:txBody>
      </p:sp>
      <p:sp>
        <p:nvSpPr>
          <p:cNvPr id="36" name="TextBox 35"/>
          <p:cNvSpPr txBox="1"/>
          <p:nvPr/>
        </p:nvSpPr>
        <p:spPr>
          <a:xfrm>
            <a:off x="3026664" y="3401568"/>
            <a:ext cx="1737360" cy="914400"/>
          </a:xfrm>
          <a:prstGeom prst="rect">
            <a:avLst/>
          </a:prstGeom>
          <a:noFill/>
        </p:spPr>
        <p:txBody>
          <a:bodyPr wrap="square" anchor="t" lIns="0" rIns="0" tIns="0" bIns="0">
            <a:spAutoFit/>
          </a:bodyPr>
          <a:lstStyle/>
          <a:p>
            <a:pPr algn="l">
              <a:lnSpc>
                <a:spcPct val="120000"/>
              </a:lnSpc>
              <a:spcAft>
                <a:spcPts val="200"/>
              </a:spcAft>
            </a:pPr>
            <a:r>
              <a:rPr sz="950" b="0" i="0">
                <a:solidFill>
                  <a:srgbClr val="ADBED1"/>
                </a:solidFill>
                <a:latin typeface="Segoe UI"/>
              </a:rPr>
              <a:t>Menimba riwayat dari banyak guru yang berbeda.</a:t>
            </a:r>
          </a:p>
        </p:txBody>
      </p:sp>
      <p:sp>
        <p:nvSpPr>
          <p:cNvPr id="37" name="Rounded Rectangle 36"/>
          <p:cNvSpPr/>
          <p:nvPr/>
        </p:nvSpPr>
        <p:spPr>
          <a:xfrm>
            <a:off x="5065776" y="1874519"/>
            <a:ext cx="2112264" cy="2514600"/>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40096" y="2130551"/>
            <a:ext cx="402336" cy="402336"/>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468112" y="2258568"/>
            <a:ext cx="146304" cy="146304"/>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85232" y="2761488"/>
            <a:ext cx="1783080" cy="32004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Eigenvector</a:t>
            </a:r>
          </a:p>
        </p:txBody>
      </p:sp>
      <p:sp>
        <p:nvSpPr>
          <p:cNvPr id="41" name="TextBox 40"/>
          <p:cNvSpPr txBox="1"/>
          <p:nvPr/>
        </p:nvSpPr>
        <p:spPr>
          <a:xfrm>
            <a:off x="5285232" y="3090672"/>
            <a:ext cx="1783080" cy="274320"/>
          </a:xfrm>
          <a:prstGeom prst="rect">
            <a:avLst/>
          </a:prstGeom>
          <a:noFill/>
        </p:spPr>
        <p:txBody>
          <a:bodyPr wrap="square" anchor="t" lIns="0" rIns="0" tIns="0" bIns="0">
            <a:spAutoFit/>
          </a:bodyPr>
          <a:lstStyle/>
          <a:p>
            <a:pPr algn="l">
              <a:lnSpc>
                <a:spcPct val="112000"/>
              </a:lnSpc>
              <a:spcAft>
                <a:spcPts val="200"/>
              </a:spcAft>
            </a:pPr>
            <a:r>
              <a:rPr sz="1050" b="0" i="1">
                <a:solidFill>
                  <a:srgbClr val="E3B341"/>
                </a:solidFill>
                <a:latin typeface="Segoe UI"/>
              </a:rPr>
              <a:t>Tokoh prestisius</a:t>
            </a:r>
          </a:p>
        </p:txBody>
      </p:sp>
      <p:sp>
        <p:nvSpPr>
          <p:cNvPr id="42" name="TextBox 41"/>
          <p:cNvSpPr txBox="1"/>
          <p:nvPr/>
        </p:nvSpPr>
        <p:spPr>
          <a:xfrm>
            <a:off x="5285232" y="3401568"/>
            <a:ext cx="1737360" cy="914400"/>
          </a:xfrm>
          <a:prstGeom prst="rect">
            <a:avLst/>
          </a:prstGeom>
          <a:noFill/>
        </p:spPr>
        <p:txBody>
          <a:bodyPr wrap="square" anchor="t" lIns="0" rIns="0" tIns="0" bIns="0">
            <a:spAutoFit/>
          </a:bodyPr>
          <a:lstStyle/>
          <a:p>
            <a:pPr algn="l">
              <a:lnSpc>
                <a:spcPct val="120000"/>
              </a:lnSpc>
              <a:spcAft>
                <a:spcPts val="200"/>
              </a:spcAft>
            </a:pPr>
            <a:r>
              <a:rPr sz="950" b="0" i="0">
                <a:solidFill>
                  <a:srgbClr val="ADBED1"/>
                </a:solidFill>
                <a:latin typeface="Segoe UI"/>
              </a:rPr>
              <a:t>Terhubung dengan perawi-perawi yang juga berpengaruh.</a:t>
            </a:r>
          </a:p>
        </p:txBody>
      </p:sp>
      <p:sp>
        <p:nvSpPr>
          <p:cNvPr id="43" name="Rounded Rectangle 42"/>
          <p:cNvSpPr/>
          <p:nvPr/>
        </p:nvSpPr>
        <p:spPr>
          <a:xfrm>
            <a:off x="7324344" y="1874519"/>
            <a:ext cx="2112264" cy="2514600"/>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598663" y="2130551"/>
            <a:ext cx="402336" cy="402336"/>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726679" y="2258568"/>
            <a:ext cx="146304" cy="146304"/>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0" y="2761488"/>
            <a:ext cx="1783080" cy="32004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Closeness</a:t>
            </a:r>
          </a:p>
        </p:txBody>
      </p:sp>
      <p:sp>
        <p:nvSpPr>
          <p:cNvPr id="47" name="TextBox 46"/>
          <p:cNvSpPr txBox="1"/>
          <p:nvPr/>
        </p:nvSpPr>
        <p:spPr>
          <a:xfrm>
            <a:off x="7543800" y="3090672"/>
            <a:ext cx="1783080" cy="274320"/>
          </a:xfrm>
          <a:prstGeom prst="rect">
            <a:avLst/>
          </a:prstGeom>
          <a:noFill/>
        </p:spPr>
        <p:txBody>
          <a:bodyPr wrap="square" anchor="t" lIns="0" rIns="0" tIns="0" bIns="0">
            <a:spAutoFit/>
          </a:bodyPr>
          <a:lstStyle/>
          <a:p>
            <a:pPr algn="l">
              <a:lnSpc>
                <a:spcPct val="112000"/>
              </a:lnSpc>
              <a:spcAft>
                <a:spcPts val="200"/>
              </a:spcAft>
            </a:pPr>
            <a:r>
              <a:rPr sz="1050" b="0" i="1">
                <a:solidFill>
                  <a:srgbClr val="E3B341"/>
                </a:solidFill>
                <a:latin typeface="Segoe UI"/>
              </a:rPr>
              <a:t>Paling terjangkau</a:t>
            </a:r>
          </a:p>
        </p:txBody>
      </p:sp>
      <p:sp>
        <p:nvSpPr>
          <p:cNvPr id="48" name="TextBox 47"/>
          <p:cNvSpPr txBox="1"/>
          <p:nvPr/>
        </p:nvSpPr>
        <p:spPr>
          <a:xfrm>
            <a:off x="7543800" y="3401568"/>
            <a:ext cx="1737360" cy="914400"/>
          </a:xfrm>
          <a:prstGeom prst="rect">
            <a:avLst/>
          </a:prstGeom>
          <a:noFill/>
        </p:spPr>
        <p:txBody>
          <a:bodyPr wrap="square" anchor="t" lIns="0" rIns="0" tIns="0" bIns="0">
            <a:spAutoFit/>
          </a:bodyPr>
          <a:lstStyle/>
          <a:p>
            <a:pPr algn="l">
              <a:lnSpc>
                <a:spcPct val="120000"/>
              </a:lnSpc>
              <a:spcAft>
                <a:spcPts val="200"/>
              </a:spcAft>
            </a:pPr>
            <a:r>
              <a:rPr sz="950" b="0" i="0">
                <a:solidFill>
                  <a:srgbClr val="ADBED1"/>
                </a:solidFill>
                <a:latin typeface="Segoe UI"/>
              </a:rPr>
              <a:t>Menjangkau seluruh jaringan lewat jalur riwayat terpendek.</a:t>
            </a:r>
          </a:p>
        </p:txBody>
      </p:sp>
      <p:sp>
        <p:nvSpPr>
          <p:cNvPr id="49" name="Rounded Rectangle 48"/>
          <p:cNvSpPr/>
          <p:nvPr/>
        </p:nvSpPr>
        <p:spPr>
          <a:xfrm>
            <a:off x="9582912" y="1874519"/>
            <a:ext cx="2112264" cy="2514600"/>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857232" y="2130551"/>
            <a:ext cx="402336" cy="402336"/>
          </a:xfrm>
          <a:prstGeom prst="ellipse">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985248" y="2258568"/>
            <a:ext cx="146304" cy="146304"/>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02368" y="2761488"/>
            <a:ext cx="1783080" cy="320040"/>
          </a:xfrm>
          <a:prstGeom prst="rect">
            <a:avLst/>
          </a:prstGeom>
          <a:noFill/>
        </p:spPr>
        <p:txBody>
          <a:bodyPr wrap="square" anchor="t" lIns="0" rIns="0" tIns="0" bIns="0">
            <a:spAutoFit/>
          </a:bodyPr>
          <a:lstStyle/>
          <a:p>
            <a:pPr algn="l">
              <a:lnSpc>
                <a:spcPct val="112000"/>
              </a:lnSpc>
              <a:spcAft>
                <a:spcPts val="200"/>
              </a:spcAft>
            </a:pPr>
            <a:r>
              <a:rPr sz="1350" b="1" i="0">
                <a:solidFill>
                  <a:srgbClr val="F2F6FA"/>
                </a:solidFill>
                <a:latin typeface="Segoe UI"/>
              </a:rPr>
              <a:t>Betweenness</a:t>
            </a:r>
          </a:p>
        </p:txBody>
      </p:sp>
      <p:sp>
        <p:nvSpPr>
          <p:cNvPr id="53" name="TextBox 52"/>
          <p:cNvSpPr txBox="1"/>
          <p:nvPr/>
        </p:nvSpPr>
        <p:spPr>
          <a:xfrm>
            <a:off x="9802368" y="3090672"/>
            <a:ext cx="1783080" cy="274320"/>
          </a:xfrm>
          <a:prstGeom prst="rect">
            <a:avLst/>
          </a:prstGeom>
          <a:noFill/>
        </p:spPr>
        <p:txBody>
          <a:bodyPr wrap="square" anchor="t" lIns="0" rIns="0" tIns="0" bIns="0">
            <a:spAutoFit/>
          </a:bodyPr>
          <a:lstStyle/>
          <a:p>
            <a:pPr algn="l">
              <a:lnSpc>
                <a:spcPct val="112000"/>
              </a:lnSpc>
              <a:spcAft>
                <a:spcPts val="200"/>
              </a:spcAft>
            </a:pPr>
            <a:r>
              <a:rPr sz="1050" b="0" i="1">
                <a:solidFill>
                  <a:srgbClr val="E3B341"/>
                </a:solidFill>
                <a:latin typeface="Segoe UI"/>
              </a:rPr>
              <a:t>Penghubung</a:t>
            </a:r>
          </a:p>
        </p:txBody>
      </p:sp>
      <p:sp>
        <p:nvSpPr>
          <p:cNvPr id="54" name="TextBox 53"/>
          <p:cNvSpPr txBox="1"/>
          <p:nvPr/>
        </p:nvSpPr>
        <p:spPr>
          <a:xfrm>
            <a:off x="9802368" y="3401568"/>
            <a:ext cx="1737360" cy="914400"/>
          </a:xfrm>
          <a:prstGeom prst="rect">
            <a:avLst/>
          </a:prstGeom>
          <a:noFill/>
        </p:spPr>
        <p:txBody>
          <a:bodyPr wrap="square" anchor="t" lIns="0" rIns="0" tIns="0" bIns="0">
            <a:spAutoFit/>
          </a:bodyPr>
          <a:lstStyle/>
          <a:p>
            <a:pPr algn="l">
              <a:lnSpc>
                <a:spcPct val="120000"/>
              </a:lnSpc>
              <a:spcAft>
                <a:spcPts val="200"/>
              </a:spcAft>
            </a:pPr>
            <a:r>
              <a:rPr sz="950" b="0" i="0">
                <a:solidFill>
                  <a:srgbClr val="ADBED1"/>
                </a:solidFill>
                <a:latin typeface="Segoe UI"/>
              </a:rPr>
              <a:t>Jembatan antarkelompok perawi — mengendalikan aliran riwayat.</a:t>
            </a:r>
          </a:p>
        </p:txBody>
      </p:sp>
      <p:sp>
        <p:nvSpPr>
          <p:cNvPr id="55" name="Rounded Rectangle 54"/>
          <p:cNvSpPr/>
          <p:nvPr/>
        </p:nvSpPr>
        <p:spPr>
          <a:xfrm>
            <a:off x="548640" y="4663440"/>
            <a:ext cx="11091672" cy="1188720"/>
          </a:xfrm>
          <a:prstGeom prst="roundRect">
            <a:avLst>
              <a:gd name="adj" fmla="val 8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8680" y="4846320"/>
            <a:ext cx="10607040" cy="320040"/>
          </a:xfrm>
          <a:prstGeom prst="rect">
            <a:avLst/>
          </a:prstGeom>
          <a:noFill/>
        </p:spPr>
        <p:txBody>
          <a:bodyPr wrap="square" anchor="t" lIns="0" rIns="0" tIns="0" bIns="0">
            <a:spAutoFit/>
          </a:bodyPr>
          <a:lstStyle/>
          <a:p>
            <a:pPr algn="l">
              <a:lnSpc>
                <a:spcPct val="112000"/>
              </a:lnSpc>
              <a:spcAft>
                <a:spcPts val="200"/>
              </a:spcAft>
            </a:pPr>
            <a:r>
              <a:rPr sz="1150" b="1" i="0">
                <a:solidFill>
                  <a:srgbClr val="F2F6FA"/>
                </a:solidFill>
                <a:latin typeface="Segoe UI"/>
              </a:rPr>
              <a:t>Dihitung dengan NetworkX 3.6  ·  </a:t>
            </a:r>
            <a:r>
              <a:rPr sz="1150" b="0" i="0">
                <a:solidFill>
                  <a:srgbClr val="ADBED1"/>
                </a:solidFill>
                <a:latin typeface="Segoe UI"/>
              </a:rPr>
              <a:t>in-degree, out-degree, eigenvector → graf penuh (177.047 simpul)</a:t>
            </a:r>
          </a:p>
        </p:txBody>
      </p:sp>
      <p:sp>
        <p:nvSpPr>
          <p:cNvPr id="57" name="TextBox 56"/>
          <p:cNvSpPr txBox="1"/>
          <p:nvPr/>
        </p:nvSpPr>
        <p:spPr>
          <a:xfrm>
            <a:off x="868680" y="5230368"/>
            <a:ext cx="10607040" cy="457200"/>
          </a:xfrm>
          <a:prstGeom prst="rect">
            <a:avLst/>
          </a:prstGeom>
          <a:noFill/>
        </p:spPr>
        <p:txBody>
          <a:bodyPr wrap="square" anchor="t" lIns="0" rIns="0" tIns="0" bIns="0">
            <a:spAutoFit/>
          </a:bodyPr>
          <a:lstStyle/>
          <a:p>
            <a:pPr algn="l">
              <a:lnSpc>
                <a:spcPct val="120000"/>
              </a:lnSpc>
              <a:spcAft>
                <a:spcPts val="200"/>
              </a:spcAft>
            </a:pPr>
            <a:r>
              <a:rPr sz="1100" b="0" i="0">
                <a:solidFill>
                  <a:srgbClr val="ADBED1"/>
                </a:solidFill>
                <a:latin typeface="Segoe UI"/>
              </a:rPr>
              <a:t>Closeness &amp; betweenness → subgraf 50.000 relasi terkuat (14.695 simpul) </a:t>
            </a:r>
            <a:r>
              <a:rPr sz="1100" b="0" i="0">
                <a:solidFill>
                  <a:srgbClr val="74889E"/>
                </a:solidFill>
                <a:latin typeface="Segoe UI"/>
              </a:rPr>
              <a:t>— all-pairs shortest path terlalu mahal untuk graf penuh; subset bobot tertinggi tetap memuat jalur-jalur utama.</a:t>
            </a:r>
          </a:p>
        </p:txBody>
      </p:sp>
      <p:sp>
        <p:nvSpPr>
          <p:cNvPr id="58" name="TextBox 57"/>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59" name="TextBox 58"/>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690818" y="1000774"/>
            <a:ext cx="259917" cy="12100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10377979" y="1071409"/>
            <a:ext cx="312839" cy="5036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0205821" y="902217"/>
            <a:ext cx="172158" cy="16919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77979" y="1071409"/>
            <a:ext cx="312839" cy="5036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048363" y="902217"/>
            <a:ext cx="157458" cy="24350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048363" y="1071409"/>
            <a:ext cx="329616" cy="7430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205821" y="662098"/>
            <a:ext cx="348542" cy="24011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377979" y="662098"/>
            <a:ext cx="176384" cy="40931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05821" y="902217"/>
            <a:ext cx="172158" cy="16919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048363" y="902217"/>
            <a:ext cx="157458" cy="24350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0690818" y="1000774"/>
            <a:ext cx="259917" cy="12100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0554363" y="662098"/>
            <a:ext cx="396372" cy="33867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608682" y="1039640"/>
            <a:ext cx="164270" cy="164270"/>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08146" y="1001577"/>
            <a:ext cx="139665" cy="139665"/>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01162" y="1098516"/>
            <a:ext cx="94401" cy="94401"/>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87380" y="595115"/>
            <a:ext cx="133965" cy="133965"/>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4352" y="820748"/>
            <a:ext cx="162938" cy="162938"/>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881585" y="931624"/>
            <a:ext cx="138300" cy="13830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08 · ARSITEKTUR SISTEM</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Hitung Sekali di Belakang, Ringan Selamanya di Depan</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Arsitektur tiga lapis memisahkan komputasi berat dari penyajian — dashboard tetap responsif.</a:t>
            </a:r>
          </a:p>
        </p:txBody>
      </p:sp>
      <p:sp>
        <p:nvSpPr>
          <p:cNvPr id="25" name="Rounded Rectangle 24"/>
          <p:cNvSpPr/>
          <p:nvPr/>
        </p:nvSpPr>
        <p:spPr>
          <a:xfrm>
            <a:off x="548640" y="1874519"/>
            <a:ext cx="3319272" cy="301752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1874519"/>
            <a:ext cx="3319272" cy="91440"/>
          </a:xfrm>
          <a:prstGeom prst="rect">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2121408"/>
            <a:ext cx="2834640" cy="274320"/>
          </a:xfrm>
          <a:prstGeom prst="rect">
            <a:avLst/>
          </a:prstGeom>
          <a:noFill/>
        </p:spPr>
        <p:txBody>
          <a:bodyPr wrap="square" anchor="t" lIns="0" rIns="0" tIns="0" bIns="0">
            <a:spAutoFit/>
          </a:bodyPr>
          <a:lstStyle/>
          <a:p>
            <a:pPr algn="l">
              <a:lnSpc>
                <a:spcPct val="112000"/>
              </a:lnSpc>
              <a:spcAft>
                <a:spcPts val="200"/>
              </a:spcAft>
            </a:pPr>
            <a:r>
              <a:rPr sz="950" b="1" i="0">
                <a:solidFill>
                  <a:srgbClr val="74889E"/>
                </a:solidFill>
                <a:latin typeface="Segoe UI"/>
              </a:rPr>
              <a:t>LAPISAN PEMROSESAN</a:t>
            </a:r>
          </a:p>
        </p:txBody>
      </p:sp>
      <p:sp>
        <p:nvSpPr>
          <p:cNvPr id="28" name="TextBox 27"/>
          <p:cNvSpPr txBox="1"/>
          <p:nvPr/>
        </p:nvSpPr>
        <p:spPr>
          <a:xfrm>
            <a:off x="804672" y="2395728"/>
            <a:ext cx="292608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Python · NetworkX</a:t>
            </a:r>
          </a:p>
        </p:txBody>
      </p:sp>
      <p:sp>
        <p:nvSpPr>
          <p:cNvPr id="29" name="TextBox 28"/>
          <p:cNvSpPr txBox="1"/>
          <p:nvPr/>
        </p:nvSpPr>
        <p:spPr>
          <a:xfrm>
            <a:off x="804672" y="2871216"/>
            <a:ext cx="2880360" cy="1828800"/>
          </a:xfrm>
          <a:prstGeom prst="rect">
            <a:avLst/>
          </a:prstGeom>
          <a:noFill/>
        </p:spPr>
        <p:txBody>
          <a:bodyPr wrap="square" anchor="t" lIns="0" rIns="0" tIns="0" bIns="0">
            <a:spAutoFit/>
          </a:bodyPr>
          <a:lstStyle/>
          <a:p>
            <a:pPr algn="l">
              <a:lnSpc>
                <a:spcPct val="120000"/>
              </a:lnSpc>
              <a:spcAft>
                <a:spcPts val="700"/>
              </a:spcAft>
            </a:pPr>
            <a:r>
              <a:rPr sz="1050" b="1" i="0">
                <a:solidFill>
                  <a:srgbClr val="34C98B"/>
                </a:solidFill>
                <a:latin typeface="Segoe UI"/>
              </a:rPr>
              <a:t>•  </a:t>
            </a:r>
            <a:r>
              <a:rPr sz="1050" b="0" i="0">
                <a:solidFill>
                  <a:srgbClr val="ADBED1"/>
                </a:solidFill>
                <a:latin typeface="Segoe UI"/>
              </a:rPr>
              <a:t>Pra-pemrosesan 650 rb baris</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Pembangunan knowledge graph</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Perhitungan 5 metrik sentralitas</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Dijalankan offline, satu kali</a:t>
            </a:r>
          </a:p>
        </p:txBody>
      </p:sp>
      <p:sp>
        <p:nvSpPr>
          <p:cNvPr id="30" name="TextBox 29"/>
          <p:cNvSpPr txBox="1"/>
          <p:nvPr/>
        </p:nvSpPr>
        <p:spPr>
          <a:xfrm>
            <a:off x="3867911" y="3090672"/>
            <a:ext cx="658368" cy="365760"/>
          </a:xfrm>
          <a:prstGeom prst="rect">
            <a:avLst/>
          </a:prstGeom>
          <a:noFill/>
        </p:spPr>
        <p:txBody>
          <a:bodyPr wrap="square" anchor="t" lIns="0" rIns="0" tIns="0" bIns="0">
            <a:spAutoFit/>
          </a:bodyPr>
          <a:lstStyle/>
          <a:p>
            <a:pPr algn="ctr">
              <a:lnSpc>
                <a:spcPct val="112000"/>
              </a:lnSpc>
              <a:spcAft>
                <a:spcPts val="200"/>
              </a:spcAft>
            </a:pPr>
            <a:r>
              <a:rPr sz="2000" b="1" i="0">
                <a:solidFill>
                  <a:srgbClr val="E3B341"/>
                </a:solidFill>
                <a:latin typeface="Segoe UI"/>
              </a:rPr>
              <a:t>→</a:t>
            </a:r>
          </a:p>
        </p:txBody>
      </p:sp>
      <p:sp>
        <p:nvSpPr>
          <p:cNvPr id="31" name="TextBox 30"/>
          <p:cNvSpPr txBox="1"/>
          <p:nvPr/>
        </p:nvSpPr>
        <p:spPr>
          <a:xfrm>
            <a:off x="3822191" y="3474720"/>
            <a:ext cx="749808" cy="274320"/>
          </a:xfrm>
          <a:prstGeom prst="rect">
            <a:avLst/>
          </a:prstGeom>
          <a:noFill/>
        </p:spPr>
        <p:txBody>
          <a:bodyPr wrap="square" anchor="t" lIns="0" rIns="0" tIns="0" bIns="0">
            <a:spAutoFit/>
          </a:bodyPr>
          <a:lstStyle/>
          <a:p>
            <a:pPr algn="ctr">
              <a:lnSpc>
                <a:spcPct val="112000"/>
              </a:lnSpc>
              <a:spcAft>
                <a:spcPts val="200"/>
              </a:spcAft>
            </a:pPr>
            <a:r>
              <a:rPr sz="850" b="0" i="0">
                <a:solidFill>
                  <a:srgbClr val="74889E"/>
                </a:solidFill>
                <a:latin typeface="Segoe UI"/>
              </a:rPr>
              <a:t>CSV</a:t>
            </a:r>
          </a:p>
        </p:txBody>
      </p:sp>
      <p:sp>
        <p:nvSpPr>
          <p:cNvPr id="32" name="Rounded Rectangle 31"/>
          <p:cNvSpPr/>
          <p:nvPr/>
        </p:nvSpPr>
        <p:spPr>
          <a:xfrm>
            <a:off x="4526279" y="1874519"/>
            <a:ext cx="3319272" cy="301752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26279" y="1874519"/>
            <a:ext cx="3319272" cy="91440"/>
          </a:xfrm>
          <a:prstGeom prst="rect">
            <a:avLst/>
          </a:prstGeom>
          <a:solidFill>
            <a:srgbClr val="B08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82312" y="2121408"/>
            <a:ext cx="2834640" cy="274320"/>
          </a:xfrm>
          <a:prstGeom prst="rect">
            <a:avLst/>
          </a:prstGeom>
          <a:noFill/>
        </p:spPr>
        <p:txBody>
          <a:bodyPr wrap="square" anchor="t" lIns="0" rIns="0" tIns="0" bIns="0">
            <a:spAutoFit/>
          </a:bodyPr>
          <a:lstStyle/>
          <a:p>
            <a:pPr algn="l">
              <a:lnSpc>
                <a:spcPct val="112000"/>
              </a:lnSpc>
              <a:spcAft>
                <a:spcPts val="200"/>
              </a:spcAft>
            </a:pPr>
            <a:r>
              <a:rPr sz="950" b="1" i="0">
                <a:solidFill>
                  <a:srgbClr val="74889E"/>
                </a:solidFill>
                <a:latin typeface="Segoe UI"/>
              </a:rPr>
              <a:t>LAPISAN PENYIMPANAN</a:t>
            </a:r>
          </a:p>
        </p:txBody>
      </p:sp>
      <p:sp>
        <p:nvSpPr>
          <p:cNvPr id="35" name="TextBox 34"/>
          <p:cNvSpPr txBox="1"/>
          <p:nvPr/>
        </p:nvSpPr>
        <p:spPr>
          <a:xfrm>
            <a:off x="4782312" y="2395728"/>
            <a:ext cx="292608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Supabase · PostgreSQL</a:t>
            </a:r>
          </a:p>
        </p:txBody>
      </p:sp>
      <p:sp>
        <p:nvSpPr>
          <p:cNvPr id="36" name="TextBox 35"/>
          <p:cNvSpPr txBox="1"/>
          <p:nvPr/>
        </p:nvSpPr>
        <p:spPr>
          <a:xfrm>
            <a:off x="4782312" y="2871216"/>
            <a:ext cx="2880360" cy="1828800"/>
          </a:xfrm>
          <a:prstGeom prst="rect">
            <a:avLst/>
          </a:prstGeom>
          <a:noFill/>
        </p:spPr>
        <p:txBody>
          <a:bodyPr wrap="square" anchor="t" lIns="0" rIns="0" tIns="0" bIns="0">
            <a:spAutoFit/>
          </a:bodyPr>
          <a:lstStyle/>
          <a:p>
            <a:pPr algn="l">
              <a:lnSpc>
                <a:spcPct val="120000"/>
              </a:lnSpc>
              <a:spcAft>
                <a:spcPts val="700"/>
              </a:spcAft>
            </a:pPr>
            <a:r>
              <a:rPr sz="1050" b="1" i="0">
                <a:solidFill>
                  <a:srgbClr val="E3B341"/>
                </a:solidFill>
                <a:latin typeface="Segoe UI"/>
              </a:rPr>
              <a:t>•  </a:t>
            </a:r>
            <a:r>
              <a:rPr sz="1050" b="0" i="0">
                <a:solidFill>
                  <a:srgbClr val="ADBED1"/>
                </a:solidFill>
                <a:latin typeface="Segoe UI"/>
              </a:rPr>
              <a:t>Tabel Sentralitas (177 rb perawi)</a:t>
            </a:r>
          </a:p>
          <a:p>
            <a:pPr algn="l">
              <a:lnSpc>
                <a:spcPct val="120000"/>
              </a:lnSpc>
              <a:spcAft>
                <a:spcPts val="700"/>
              </a:spcAft>
            </a:pPr>
            <a:r>
              <a:rPr sz="1050" b="1" i="0">
                <a:solidFill>
                  <a:srgbClr val="E3B341"/>
                </a:solidFill>
                <a:latin typeface="Segoe UI"/>
              </a:rPr>
              <a:t>•  </a:t>
            </a:r>
            <a:r>
              <a:rPr sz="1050" b="0" i="0">
                <a:solidFill>
                  <a:srgbClr val="ADBED1"/>
                </a:solidFill>
                <a:latin typeface="Segoe UI"/>
              </a:rPr>
              <a:t>Tabel Edge (776 rb relasi)</a:t>
            </a:r>
          </a:p>
          <a:p>
            <a:pPr algn="l">
              <a:lnSpc>
                <a:spcPct val="120000"/>
              </a:lnSpc>
              <a:spcAft>
                <a:spcPts val="700"/>
              </a:spcAft>
            </a:pPr>
            <a:r>
              <a:rPr sz="1050" b="1" i="0">
                <a:solidFill>
                  <a:srgbClr val="E3B341"/>
                </a:solidFill>
                <a:latin typeface="Segoe UI"/>
              </a:rPr>
              <a:t>•  </a:t>
            </a:r>
            <a:r>
              <a:rPr sz="1050" b="0" i="0">
                <a:solidFill>
                  <a:srgbClr val="ADBED1"/>
                </a:solidFill>
                <a:latin typeface="Segoe UI"/>
              </a:rPr>
              <a:t>REST API otomatis</a:t>
            </a:r>
          </a:p>
          <a:p>
            <a:pPr algn="l">
              <a:lnSpc>
                <a:spcPct val="120000"/>
              </a:lnSpc>
              <a:spcAft>
                <a:spcPts val="700"/>
              </a:spcAft>
            </a:pPr>
            <a:r>
              <a:rPr sz="1050" b="1" i="0">
                <a:solidFill>
                  <a:srgbClr val="E3B341"/>
                </a:solidFill>
                <a:latin typeface="Segoe UI"/>
              </a:rPr>
              <a:t>•  </a:t>
            </a:r>
            <a:r>
              <a:rPr sz="1050" b="0" i="0">
                <a:solidFill>
                  <a:srgbClr val="ADBED1"/>
                </a:solidFill>
                <a:latin typeface="Segoe UI"/>
              </a:rPr>
              <a:t>Sumber data terpusat</a:t>
            </a:r>
          </a:p>
        </p:txBody>
      </p:sp>
      <p:sp>
        <p:nvSpPr>
          <p:cNvPr id="37" name="TextBox 36"/>
          <p:cNvSpPr txBox="1"/>
          <p:nvPr/>
        </p:nvSpPr>
        <p:spPr>
          <a:xfrm>
            <a:off x="7845551" y="3090672"/>
            <a:ext cx="658368" cy="365760"/>
          </a:xfrm>
          <a:prstGeom prst="rect">
            <a:avLst/>
          </a:prstGeom>
          <a:noFill/>
        </p:spPr>
        <p:txBody>
          <a:bodyPr wrap="square" anchor="t" lIns="0" rIns="0" tIns="0" bIns="0">
            <a:spAutoFit/>
          </a:bodyPr>
          <a:lstStyle/>
          <a:p>
            <a:pPr algn="ctr">
              <a:lnSpc>
                <a:spcPct val="112000"/>
              </a:lnSpc>
              <a:spcAft>
                <a:spcPts val="200"/>
              </a:spcAft>
            </a:pPr>
            <a:r>
              <a:rPr sz="2000" b="1" i="0">
                <a:solidFill>
                  <a:srgbClr val="E3B341"/>
                </a:solidFill>
                <a:latin typeface="Segoe UI"/>
              </a:rPr>
              <a:t>→</a:t>
            </a:r>
          </a:p>
        </p:txBody>
      </p:sp>
      <p:sp>
        <p:nvSpPr>
          <p:cNvPr id="38" name="TextBox 37"/>
          <p:cNvSpPr txBox="1"/>
          <p:nvPr/>
        </p:nvSpPr>
        <p:spPr>
          <a:xfrm>
            <a:off x="7799831" y="3474720"/>
            <a:ext cx="749808" cy="274320"/>
          </a:xfrm>
          <a:prstGeom prst="rect">
            <a:avLst/>
          </a:prstGeom>
          <a:noFill/>
        </p:spPr>
        <p:txBody>
          <a:bodyPr wrap="square" anchor="t" lIns="0" rIns="0" tIns="0" bIns="0">
            <a:spAutoFit/>
          </a:bodyPr>
          <a:lstStyle/>
          <a:p>
            <a:pPr algn="ctr">
              <a:lnSpc>
                <a:spcPct val="112000"/>
              </a:lnSpc>
              <a:spcAft>
                <a:spcPts val="200"/>
              </a:spcAft>
            </a:pPr>
            <a:r>
              <a:rPr sz="850" b="0" i="0">
                <a:solidFill>
                  <a:srgbClr val="74889E"/>
                </a:solidFill>
                <a:latin typeface="Segoe UI"/>
              </a:rPr>
              <a:t>REST API</a:t>
            </a:r>
          </a:p>
        </p:txBody>
      </p:sp>
      <p:sp>
        <p:nvSpPr>
          <p:cNvPr id="39" name="Rounded Rectangle 38"/>
          <p:cNvSpPr/>
          <p:nvPr/>
        </p:nvSpPr>
        <p:spPr>
          <a:xfrm>
            <a:off x="8503919" y="1874519"/>
            <a:ext cx="3319272" cy="301752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503919" y="1874519"/>
            <a:ext cx="3319272" cy="91440"/>
          </a:xfrm>
          <a:prstGeom prst="rect">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9951" y="2121408"/>
            <a:ext cx="2834640" cy="274320"/>
          </a:xfrm>
          <a:prstGeom prst="rect">
            <a:avLst/>
          </a:prstGeom>
          <a:noFill/>
        </p:spPr>
        <p:txBody>
          <a:bodyPr wrap="square" anchor="t" lIns="0" rIns="0" tIns="0" bIns="0">
            <a:spAutoFit/>
          </a:bodyPr>
          <a:lstStyle/>
          <a:p>
            <a:pPr algn="l">
              <a:lnSpc>
                <a:spcPct val="112000"/>
              </a:lnSpc>
              <a:spcAft>
                <a:spcPts val="200"/>
              </a:spcAft>
            </a:pPr>
            <a:r>
              <a:rPr sz="950" b="1" i="0">
                <a:solidFill>
                  <a:srgbClr val="74889E"/>
                </a:solidFill>
                <a:latin typeface="Segoe UI"/>
              </a:rPr>
              <a:t>LAPISAN PRESENTASI</a:t>
            </a:r>
          </a:p>
        </p:txBody>
      </p:sp>
      <p:sp>
        <p:nvSpPr>
          <p:cNvPr id="42" name="TextBox 41"/>
          <p:cNvSpPr txBox="1"/>
          <p:nvPr/>
        </p:nvSpPr>
        <p:spPr>
          <a:xfrm>
            <a:off x="8759951" y="2395728"/>
            <a:ext cx="2926080" cy="365760"/>
          </a:xfrm>
          <a:prstGeom prst="rect">
            <a:avLst/>
          </a:prstGeom>
          <a:noFill/>
        </p:spPr>
        <p:txBody>
          <a:bodyPr wrap="square" anchor="t" lIns="0" rIns="0" tIns="0" bIns="0">
            <a:spAutoFit/>
          </a:bodyPr>
          <a:lstStyle/>
          <a:p>
            <a:pPr algn="l">
              <a:lnSpc>
                <a:spcPct val="112000"/>
              </a:lnSpc>
              <a:spcAft>
                <a:spcPts val="200"/>
              </a:spcAft>
            </a:pPr>
            <a:r>
              <a:rPr sz="1550" b="1" i="0">
                <a:solidFill>
                  <a:srgbClr val="F2F6FA"/>
                </a:solidFill>
                <a:latin typeface="Segoe UI"/>
              </a:rPr>
              <a:t>React 18 · TypeScript</a:t>
            </a:r>
          </a:p>
        </p:txBody>
      </p:sp>
      <p:sp>
        <p:nvSpPr>
          <p:cNvPr id="43" name="TextBox 42"/>
          <p:cNvSpPr txBox="1"/>
          <p:nvPr/>
        </p:nvSpPr>
        <p:spPr>
          <a:xfrm>
            <a:off x="8759951" y="2871216"/>
            <a:ext cx="2880360" cy="1828800"/>
          </a:xfrm>
          <a:prstGeom prst="rect">
            <a:avLst/>
          </a:prstGeom>
          <a:noFill/>
        </p:spPr>
        <p:txBody>
          <a:bodyPr wrap="square" anchor="t" lIns="0" rIns="0" tIns="0" bIns="0">
            <a:spAutoFit/>
          </a:bodyPr>
          <a:lstStyle/>
          <a:p>
            <a:pPr algn="l">
              <a:lnSpc>
                <a:spcPct val="120000"/>
              </a:lnSpc>
              <a:spcAft>
                <a:spcPts val="700"/>
              </a:spcAft>
            </a:pPr>
            <a:r>
              <a:rPr sz="1050" b="1" i="0">
                <a:solidFill>
                  <a:srgbClr val="34C98B"/>
                </a:solidFill>
                <a:latin typeface="Segoe UI"/>
              </a:rPr>
              <a:t>•  </a:t>
            </a:r>
            <a:r>
              <a:rPr sz="1050" b="0" i="0">
                <a:solidFill>
                  <a:srgbClr val="ADBED1"/>
                </a:solidFill>
                <a:latin typeface="Segoe UI"/>
              </a:rPr>
              <a:t>SPA dengan Vite + TailwindCSS</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Graf: HTML5 Canvas force-directed</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Grafik statistik: Recharts</a:t>
            </a:r>
          </a:p>
          <a:p>
            <a:pPr algn="l">
              <a:lnSpc>
                <a:spcPct val="120000"/>
              </a:lnSpc>
              <a:spcAft>
                <a:spcPts val="700"/>
              </a:spcAft>
            </a:pPr>
            <a:r>
              <a:rPr sz="1050" b="1" i="0">
                <a:solidFill>
                  <a:srgbClr val="34C98B"/>
                </a:solidFill>
                <a:latin typeface="Segoe UI"/>
              </a:rPr>
              <a:t>•  </a:t>
            </a:r>
            <a:r>
              <a:rPr sz="1050" b="0" i="0">
                <a:solidFill>
                  <a:srgbClr val="ADBED1"/>
                </a:solidFill>
                <a:latin typeface="Segoe UI"/>
              </a:rPr>
              <a:t>Read-only — tanpa hitung ulang</a:t>
            </a:r>
          </a:p>
        </p:txBody>
      </p:sp>
      <p:sp>
        <p:nvSpPr>
          <p:cNvPr id="44" name="Rounded Rectangle 43"/>
          <p:cNvSpPr/>
          <p:nvPr/>
        </p:nvSpPr>
        <p:spPr>
          <a:xfrm>
            <a:off x="548640" y="5166360"/>
            <a:ext cx="11091672" cy="731520"/>
          </a:xfrm>
          <a:prstGeom prst="roundRect">
            <a:avLst>
              <a:gd name="adj" fmla="val 10000"/>
            </a:avLst>
          </a:prstGeom>
          <a:solidFill>
            <a:srgbClr val="112438"/>
          </a:solidFill>
          <a:ln w="13970">
            <a:solidFill>
              <a:srgbClr val="B08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358384"/>
            <a:ext cx="10515600" cy="411480"/>
          </a:xfrm>
          <a:prstGeom prst="rect">
            <a:avLst/>
          </a:prstGeom>
          <a:noFill/>
        </p:spPr>
        <p:txBody>
          <a:bodyPr wrap="square" anchor="t" lIns="0" rIns="0" tIns="0" bIns="0">
            <a:spAutoFit/>
          </a:bodyPr>
          <a:lstStyle/>
          <a:p>
            <a:pPr algn="l">
              <a:lnSpc>
                <a:spcPct val="112000"/>
              </a:lnSpc>
              <a:spcAft>
                <a:spcPts val="200"/>
              </a:spcAft>
            </a:pPr>
            <a:r>
              <a:rPr sz="1200" b="1" i="0">
                <a:solidFill>
                  <a:srgbClr val="E3B341"/>
                </a:solidFill>
                <a:latin typeface="Segoe UI"/>
              </a:rPr>
              <a:t>Prinsip desain:  </a:t>
            </a:r>
            <a:r>
              <a:rPr sz="1200" b="0" i="0">
                <a:solidFill>
                  <a:srgbClr val="F2F6FA"/>
                </a:solidFill>
                <a:latin typeface="Segoe UI"/>
              </a:rPr>
              <a:t>seluruh komputasi berat selesai di lapisan pemrosesan — pengguna hanya menerima hasil, sehingga dashboard ringan di perangkat apa pun.</a:t>
            </a:r>
          </a:p>
        </p:txBody>
      </p:sp>
      <p:sp>
        <p:nvSpPr>
          <p:cNvPr id="46" name="TextBox 45"/>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47" name="TextBox 46"/>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09 · DEMO DASHBOARD</a:t>
            </a:r>
          </a:p>
        </p:txBody>
      </p:sp>
      <p:sp>
        <p:nvSpPr>
          <p:cNvPr id="5" name="TextBox 4"/>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Empat Halaman, Satu Jaringan</a:t>
            </a:r>
          </a:p>
        </p:txBody>
      </p:sp>
      <p:pic>
        <p:nvPicPr>
          <p:cNvPr id="6" name="Picture 5" descr="Tampilan1.png"/>
          <p:cNvPicPr>
            <a:picLocks noChangeAspect="1"/>
          </p:cNvPicPr>
          <p:nvPr/>
        </p:nvPicPr>
        <p:blipFill>
          <a:blip r:embed="rId2"/>
          <a:stretch>
            <a:fillRect/>
          </a:stretch>
        </p:blipFill>
        <p:spPr>
          <a:xfrm>
            <a:off x="548640" y="1662897"/>
            <a:ext cx="6903720" cy="3568781"/>
          </a:xfrm>
          <a:prstGeom prst="rect">
            <a:avLst/>
          </a:prstGeom>
          <a:ln w="15875">
            <a:solidFill>
              <a:srgbClr val="274260"/>
            </a:solidFill>
          </a:ln>
        </p:spPr>
      </p:pic>
      <p:sp>
        <p:nvSpPr>
          <p:cNvPr id="7" name="TextBox 6"/>
          <p:cNvSpPr txBox="1"/>
          <p:nvPr/>
        </p:nvSpPr>
        <p:spPr>
          <a:xfrm>
            <a:off x="548640" y="5468112"/>
            <a:ext cx="6903720" cy="274320"/>
          </a:xfrm>
          <a:prstGeom prst="rect">
            <a:avLst/>
          </a:prstGeom>
          <a:noFill/>
        </p:spPr>
        <p:txBody>
          <a:bodyPr wrap="square" anchor="t" lIns="0" rIns="0" tIns="0" bIns="0">
            <a:spAutoFit/>
          </a:bodyPr>
          <a:lstStyle/>
          <a:p>
            <a:pPr algn="l">
              <a:lnSpc>
                <a:spcPct val="112000"/>
              </a:lnSpc>
              <a:spcAft>
                <a:spcPts val="200"/>
              </a:spcAft>
            </a:pPr>
            <a:r>
              <a:rPr sz="950" b="1" i="0">
                <a:solidFill>
                  <a:srgbClr val="F2F6FA"/>
                </a:solidFill>
                <a:latin typeface="Segoe UI"/>
              </a:rPr>
              <a:t>Graf Relasi Perawi</a:t>
            </a:r>
            <a:r>
              <a:rPr sz="950" b="0" i="0">
                <a:solidFill>
                  <a:srgbClr val="ADBED1"/>
                </a:solidFill>
                <a:latin typeface="Segoe UI"/>
              </a:rPr>
              <a:t>  — force-directed di HTML5 Canvas; ukuran &amp; warna node = peringkat sentralitas; klik node → panel detail guru &amp; murid</a:t>
            </a:r>
          </a:p>
        </p:txBody>
      </p:sp>
      <p:pic>
        <p:nvPicPr>
          <p:cNvPr id="8" name="Picture 7" descr="halamanStatistikPerawi.png"/>
          <p:cNvPicPr>
            <a:picLocks noChangeAspect="1"/>
          </p:cNvPicPr>
          <p:nvPr/>
        </p:nvPicPr>
        <p:blipFill>
          <a:blip r:embed="rId3"/>
          <a:stretch>
            <a:fillRect/>
          </a:stretch>
        </p:blipFill>
        <p:spPr>
          <a:xfrm>
            <a:off x="8795362" y="1481328"/>
            <a:ext cx="1776265" cy="1024128"/>
          </a:xfrm>
          <a:prstGeom prst="rect">
            <a:avLst/>
          </a:prstGeom>
          <a:ln w="15875">
            <a:solidFill>
              <a:srgbClr val="274260"/>
            </a:solidFill>
          </a:ln>
        </p:spPr>
      </p:pic>
      <p:sp>
        <p:nvSpPr>
          <p:cNvPr id="9" name="TextBox 8"/>
          <p:cNvSpPr txBox="1"/>
          <p:nvPr/>
        </p:nvSpPr>
        <p:spPr>
          <a:xfrm>
            <a:off x="7726679" y="2523744"/>
            <a:ext cx="3913632" cy="228600"/>
          </a:xfrm>
          <a:prstGeom prst="rect">
            <a:avLst/>
          </a:prstGeom>
          <a:noFill/>
        </p:spPr>
        <p:txBody>
          <a:bodyPr wrap="square" anchor="t" lIns="0" rIns="0" tIns="0" bIns="0">
            <a:spAutoFit/>
          </a:bodyPr>
          <a:lstStyle/>
          <a:p>
            <a:pPr algn="l">
              <a:lnSpc>
                <a:spcPct val="112000"/>
              </a:lnSpc>
              <a:spcAft>
                <a:spcPts val="200"/>
              </a:spcAft>
            </a:pPr>
            <a:r>
              <a:rPr sz="850" b="0" i="0">
                <a:solidFill>
                  <a:srgbClr val="ADBED1"/>
                </a:solidFill>
                <a:latin typeface="Segoe UI"/>
              </a:rPr>
              <a:t>Statistik Perawi — Top 10 tiap metrik</a:t>
            </a:r>
          </a:p>
        </p:txBody>
      </p:sp>
      <p:pic>
        <p:nvPicPr>
          <p:cNvPr id="10" name="Picture 9" descr="tampilantabelrelasi.png"/>
          <p:cNvPicPr>
            <a:picLocks noChangeAspect="1"/>
          </p:cNvPicPr>
          <p:nvPr/>
        </p:nvPicPr>
        <p:blipFill>
          <a:blip r:embed="rId4"/>
          <a:stretch>
            <a:fillRect/>
          </a:stretch>
        </p:blipFill>
        <p:spPr>
          <a:xfrm>
            <a:off x="8691436" y="2852928"/>
            <a:ext cx="1984118" cy="1024128"/>
          </a:xfrm>
          <a:prstGeom prst="rect">
            <a:avLst/>
          </a:prstGeom>
          <a:ln w="15875">
            <a:solidFill>
              <a:srgbClr val="274260"/>
            </a:solidFill>
          </a:ln>
        </p:spPr>
      </p:pic>
      <p:sp>
        <p:nvSpPr>
          <p:cNvPr id="11" name="TextBox 10"/>
          <p:cNvSpPr txBox="1"/>
          <p:nvPr/>
        </p:nvSpPr>
        <p:spPr>
          <a:xfrm>
            <a:off x="7726679" y="3895344"/>
            <a:ext cx="3913632" cy="228600"/>
          </a:xfrm>
          <a:prstGeom prst="rect">
            <a:avLst/>
          </a:prstGeom>
          <a:noFill/>
        </p:spPr>
        <p:txBody>
          <a:bodyPr wrap="square" anchor="t" lIns="0" rIns="0" tIns="0" bIns="0">
            <a:spAutoFit/>
          </a:bodyPr>
          <a:lstStyle/>
          <a:p>
            <a:pPr algn="l">
              <a:lnSpc>
                <a:spcPct val="112000"/>
              </a:lnSpc>
              <a:spcAft>
                <a:spcPts val="200"/>
              </a:spcAft>
            </a:pPr>
            <a:r>
              <a:rPr sz="850" b="0" i="0">
                <a:solidFill>
                  <a:srgbClr val="ADBED1"/>
                </a:solidFill>
                <a:latin typeface="Segoe UI"/>
              </a:rPr>
              <a:t>Tabel Relasi — 776.798 relasi, cari &amp; sortir</a:t>
            </a:r>
          </a:p>
        </p:txBody>
      </p:sp>
      <p:pic>
        <p:nvPicPr>
          <p:cNvPr id="12" name="Picture 11" descr="tampilantabelsentralitas.png"/>
          <p:cNvPicPr>
            <a:picLocks noChangeAspect="1"/>
          </p:cNvPicPr>
          <p:nvPr/>
        </p:nvPicPr>
        <p:blipFill>
          <a:blip r:embed="rId5"/>
          <a:stretch>
            <a:fillRect/>
          </a:stretch>
        </p:blipFill>
        <p:spPr>
          <a:xfrm>
            <a:off x="8644752" y="4224528"/>
            <a:ext cx="2077485" cy="1024128"/>
          </a:xfrm>
          <a:prstGeom prst="rect">
            <a:avLst/>
          </a:prstGeom>
          <a:ln w="15875">
            <a:solidFill>
              <a:srgbClr val="274260"/>
            </a:solidFill>
          </a:ln>
        </p:spPr>
      </p:pic>
      <p:sp>
        <p:nvSpPr>
          <p:cNvPr id="13" name="TextBox 12"/>
          <p:cNvSpPr txBox="1"/>
          <p:nvPr/>
        </p:nvSpPr>
        <p:spPr>
          <a:xfrm>
            <a:off x="7726679" y="5266944"/>
            <a:ext cx="3913632" cy="228600"/>
          </a:xfrm>
          <a:prstGeom prst="rect">
            <a:avLst/>
          </a:prstGeom>
          <a:noFill/>
        </p:spPr>
        <p:txBody>
          <a:bodyPr wrap="square" anchor="t" lIns="0" rIns="0" tIns="0" bIns="0">
            <a:spAutoFit/>
          </a:bodyPr>
          <a:lstStyle/>
          <a:p>
            <a:pPr algn="l">
              <a:lnSpc>
                <a:spcPct val="112000"/>
              </a:lnSpc>
              <a:spcAft>
                <a:spcPts val="200"/>
              </a:spcAft>
            </a:pPr>
            <a:r>
              <a:rPr sz="850" b="0" i="0">
                <a:solidFill>
                  <a:srgbClr val="ADBED1"/>
                </a:solidFill>
                <a:latin typeface="Segoe UI"/>
              </a:rPr>
              <a:t>Tabel Sentralitas — 177.047 perawi</a:t>
            </a:r>
          </a:p>
        </p:txBody>
      </p:sp>
      <p:sp>
        <p:nvSpPr>
          <p:cNvPr id="14" name="Rounded Rectangle 13"/>
          <p:cNvSpPr/>
          <p:nvPr/>
        </p:nvSpPr>
        <p:spPr>
          <a:xfrm>
            <a:off x="7680960" y="5577840"/>
            <a:ext cx="1435608" cy="329184"/>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80" y="5646420"/>
            <a:ext cx="1344168" cy="237744"/>
          </a:xfrm>
          <a:prstGeom prst="rect">
            <a:avLst/>
          </a:prstGeom>
          <a:noFill/>
        </p:spPr>
        <p:txBody>
          <a:bodyPr wrap="square" anchor="t" lIns="0" rIns="0" tIns="0" bIns="0">
            <a:spAutoFit/>
          </a:bodyPr>
          <a:lstStyle/>
          <a:p>
            <a:pPr algn="ctr">
              <a:lnSpc>
                <a:spcPct val="112000"/>
              </a:lnSpc>
              <a:spcAft>
                <a:spcPts val="200"/>
              </a:spcAft>
            </a:pPr>
            <a:r>
              <a:rPr sz="900" b="0" i="0">
                <a:solidFill>
                  <a:srgbClr val="ADBED1"/>
                </a:solidFill>
                <a:latin typeface="Segoe UI"/>
              </a:rPr>
              <a:t>Filter 5 metrik</a:t>
            </a:r>
          </a:p>
        </p:txBody>
      </p:sp>
      <p:sp>
        <p:nvSpPr>
          <p:cNvPr id="16" name="Rounded Rectangle 15"/>
          <p:cNvSpPr/>
          <p:nvPr/>
        </p:nvSpPr>
        <p:spPr>
          <a:xfrm>
            <a:off x="9244584" y="5577840"/>
            <a:ext cx="1135684" cy="329184"/>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5646420"/>
            <a:ext cx="1044244" cy="237744"/>
          </a:xfrm>
          <a:prstGeom prst="rect">
            <a:avLst/>
          </a:prstGeom>
          <a:noFill/>
        </p:spPr>
        <p:txBody>
          <a:bodyPr wrap="square" anchor="t" lIns="0" rIns="0" tIns="0" bIns="0">
            <a:spAutoFit/>
          </a:bodyPr>
          <a:lstStyle/>
          <a:p>
            <a:pPr algn="ctr">
              <a:lnSpc>
                <a:spcPct val="112000"/>
              </a:lnSpc>
              <a:spcAft>
                <a:spcPts val="200"/>
              </a:spcAft>
            </a:pPr>
            <a:r>
              <a:rPr sz="900" b="0" i="0">
                <a:solidFill>
                  <a:srgbClr val="ADBED1"/>
                </a:solidFill>
                <a:latin typeface="Segoe UI"/>
              </a:rPr>
              <a:t>Cari perawi</a:t>
            </a:r>
          </a:p>
        </p:txBody>
      </p:sp>
      <p:sp>
        <p:nvSpPr>
          <p:cNvPr id="18" name="Rounded Rectangle 17"/>
          <p:cNvSpPr/>
          <p:nvPr/>
        </p:nvSpPr>
        <p:spPr>
          <a:xfrm>
            <a:off x="10508284" y="5577840"/>
            <a:ext cx="1135684" cy="329184"/>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54004" y="5646420"/>
            <a:ext cx="1044244" cy="237744"/>
          </a:xfrm>
          <a:prstGeom prst="rect">
            <a:avLst/>
          </a:prstGeom>
          <a:noFill/>
        </p:spPr>
        <p:txBody>
          <a:bodyPr wrap="square" anchor="t" lIns="0" rIns="0" tIns="0" bIns="0">
            <a:spAutoFit/>
          </a:bodyPr>
          <a:lstStyle/>
          <a:p>
            <a:pPr algn="ctr">
              <a:lnSpc>
                <a:spcPct val="112000"/>
              </a:lnSpc>
              <a:spcAft>
                <a:spcPts val="200"/>
              </a:spcAft>
            </a:pPr>
            <a:r>
              <a:rPr sz="900" b="0" i="0">
                <a:solidFill>
                  <a:srgbClr val="ADBED1"/>
                </a:solidFill>
                <a:latin typeface="Segoe UI"/>
              </a:rPr>
              <a:t>Zoom &amp; drag</a:t>
            </a:r>
          </a:p>
        </p:txBody>
      </p:sp>
      <p:sp>
        <p:nvSpPr>
          <p:cNvPr id="20" name="TextBox 19"/>
          <p:cNvSpPr txBox="1"/>
          <p:nvPr/>
        </p:nvSpPr>
        <p:spPr>
          <a:xfrm>
            <a:off x="548640" y="5989320"/>
            <a:ext cx="11064240" cy="274320"/>
          </a:xfrm>
          <a:prstGeom prst="rect">
            <a:avLst/>
          </a:prstGeom>
          <a:noFill/>
        </p:spPr>
        <p:txBody>
          <a:bodyPr wrap="square" anchor="t" lIns="0" rIns="0" tIns="0" bIns="0">
            <a:spAutoFit/>
          </a:bodyPr>
          <a:lstStyle/>
          <a:p>
            <a:pPr algn="l">
              <a:lnSpc>
                <a:spcPct val="112000"/>
              </a:lnSpc>
              <a:spcAft>
                <a:spcPts val="200"/>
              </a:spcAft>
            </a:pPr>
            <a:r>
              <a:rPr sz="950" b="0" i="1">
                <a:solidFill>
                  <a:srgbClr val="74889E"/>
                </a:solidFill>
                <a:latin typeface="Segoe UI"/>
              </a:rPr>
              <a:t>Demi keterbacaan, graf menampilkan subset representatif: 50 perawi teratas dengan 1.000 relasi.</a:t>
            </a:r>
          </a:p>
        </p:txBody>
      </p:sp>
      <p:sp>
        <p:nvSpPr>
          <p:cNvPr id="21" name="TextBox 20"/>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22" name="TextBox 21"/>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10 · HASIL &amp; INSIGHT UTAMA</a:t>
            </a:r>
          </a:p>
        </p:txBody>
      </p:sp>
      <p:sp>
        <p:nvSpPr>
          <p:cNvPr id="5" name="TextBox 4"/>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Data Menegaskan Sejarah: Abu Hurairah di Pusat Jaringan</a:t>
            </a:r>
          </a:p>
        </p:txBody>
      </p:sp>
      <p:sp>
        <p:nvSpPr>
          <p:cNvPr id="6" name="Rounded Rectangle 5"/>
          <p:cNvSpPr/>
          <p:nvPr/>
        </p:nvSpPr>
        <p:spPr>
          <a:xfrm>
            <a:off x="548640" y="1600200"/>
            <a:ext cx="4160520" cy="379476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47088"/>
            <a:ext cx="3566160" cy="731520"/>
          </a:xfrm>
          <a:prstGeom prst="rect">
            <a:avLst/>
          </a:prstGeom>
          <a:noFill/>
        </p:spPr>
        <p:txBody>
          <a:bodyPr wrap="square" anchor="t" lIns="0" rIns="0" tIns="0" bIns="0">
            <a:spAutoFit/>
          </a:bodyPr>
          <a:lstStyle/>
          <a:p>
            <a:pPr algn="l">
              <a:lnSpc>
                <a:spcPct val="112000"/>
              </a:lnSpc>
              <a:spcAft>
                <a:spcPts val="200"/>
              </a:spcAft>
            </a:pPr>
            <a:r>
              <a:rPr sz="4400" b="1" i="0">
                <a:solidFill>
                  <a:srgbClr val="E3B341"/>
                </a:solidFill>
                <a:latin typeface="Segoe UI"/>
              </a:rPr>
              <a:t>4 / 5</a:t>
            </a:r>
          </a:p>
        </p:txBody>
      </p:sp>
      <p:sp>
        <p:nvSpPr>
          <p:cNvPr id="8" name="TextBox 7"/>
          <p:cNvSpPr txBox="1"/>
          <p:nvPr/>
        </p:nvSpPr>
        <p:spPr>
          <a:xfrm>
            <a:off x="868680" y="2633472"/>
            <a:ext cx="3566160" cy="365760"/>
          </a:xfrm>
          <a:prstGeom prst="rect">
            <a:avLst/>
          </a:prstGeom>
          <a:noFill/>
        </p:spPr>
        <p:txBody>
          <a:bodyPr wrap="square" anchor="t" lIns="0" rIns="0" tIns="0" bIns="0">
            <a:spAutoFit/>
          </a:bodyPr>
          <a:lstStyle/>
          <a:p>
            <a:pPr algn="l">
              <a:lnSpc>
                <a:spcPct val="112000"/>
              </a:lnSpc>
              <a:spcAft>
                <a:spcPts val="200"/>
              </a:spcAft>
            </a:pPr>
            <a:r>
              <a:rPr sz="1150" b="1" i="0">
                <a:solidFill>
                  <a:srgbClr val="F2F6FA"/>
                </a:solidFill>
                <a:latin typeface="Segoe UI"/>
              </a:rPr>
              <a:t>metrik sentralitas dipuncaki Abu Hurairah</a:t>
            </a:r>
          </a:p>
        </p:txBody>
      </p:sp>
      <p:sp>
        <p:nvSpPr>
          <p:cNvPr id="9" name="TextBox 8"/>
          <p:cNvSpPr txBox="1"/>
          <p:nvPr/>
        </p:nvSpPr>
        <p:spPr>
          <a:xfrm>
            <a:off x="868680" y="3108960"/>
            <a:ext cx="3566160" cy="2103120"/>
          </a:xfrm>
          <a:prstGeom prst="rect">
            <a:avLst/>
          </a:prstGeom>
          <a:noFill/>
        </p:spPr>
        <p:txBody>
          <a:bodyPr wrap="square" anchor="t" lIns="0" rIns="0" tIns="0" bIns="0">
            <a:spAutoFit/>
          </a:bodyPr>
          <a:lstStyle/>
          <a:p>
            <a:pPr algn="l">
              <a:lnSpc>
                <a:spcPct val="120000"/>
              </a:lnSpc>
              <a:spcAft>
                <a:spcPts val="700"/>
              </a:spcAft>
            </a:pPr>
            <a:r>
              <a:rPr sz="1150" b="1" i="0">
                <a:solidFill>
                  <a:srgbClr val="E3B341"/>
                </a:solidFill>
                <a:latin typeface="Segoe UI"/>
              </a:rPr>
              <a:t>●  </a:t>
            </a:r>
            <a:r>
              <a:rPr sz="1150" b="0" i="0">
                <a:solidFill>
                  <a:srgbClr val="ADBED1"/>
                </a:solidFill>
                <a:latin typeface="Segoe UI"/>
              </a:rPr>
              <a:t>In-Degree   </a:t>
            </a:r>
            <a:r>
              <a:rPr sz="1150" b="1" i="0">
                <a:solidFill>
                  <a:srgbClr val="F2F6FA"/>
                </a:solidFill>
                <a:latin typeface="Segoe UI"/>
              </a:rPr>
              <a:t>0,0199</a:t>
            </a:r>
          </a:p>
          <a:p>
            <a:pPr algn="l">
              <a:lnSpc>
                <a:spcPct val="120000"/>
              </a:lnSpc>
              <a:spcAft>
                <a:spcPts val="700"/>
              </a:spcAft>
            </a:pPr>
            <a:r>
              <a:rPr sz="1150" b="1" i="0">
                <a:solidFill>
                  <a:srgbClr val="E3B341"/>
                </a:solidFill>
                <a:latin typeface="Segoe UI"/>
              </a:rPr>
              <a:t>●  </a:t>
            </a:r>
            <a:r>
              <a:rPr sz="1150" b="0" i="0">
                <a:solidFill>
                  <a:srgbClr val="ADBED1"/>
                </a:solidFill>
                <a:latin typeface="Segoe UI"/>
              </a:rPr>
              <a:t>Eigenvector   </a:t>
            </a:r>
            <a:r>
              <a:rPr sz="1150" b="1" i="0">
                <a:solidFill>
                  <a:srgbClr val="F2F6FA"/>
                </a:solidFill>
                <a:latin typeface="Segoe UI"/>
              </a:rPr>
              <a:t>0,5195</a:t>
            </a:r>
          </a:p>
          <a:p>
            <a:pPr algn="l">
              <a:lnSpc>
                <a:spcPct val="120000"/>
              </a:lnSpc>
              <a:spcAft>
                <a:spcPts val="700"/>
              </a:spcAft>
            </a:pPr>
            <a:r>
              <a:rPr sz="1150" b="1" i="0">
                <a:solidFill>
                  <a:srgbClr val="E3B341"/>
                </a:solidFill>
                <a:latin typeface="Segoe UI"/>
              </a:rPr>
              <a:t>●  </a:t>
            </a:r>
            <a:r>
              <a:rPr sz="1150" b="0" i="0">
                <a:solidFill>
                  <a:srgbClr val="ADBED1"/>
                </a:solidFill>
                <a:latin typeface="Segoe UI"/>
              </a:rPr>
              <a:t>Closeness   </a:t>
            </a:r>
            <a:r>
              <a:rPr sz="1150" b="1" i="0">
                <a:solidFill>
                  <a:srgbClr val="F2F6FA"/>
                </a:solidFill>
                <a:latin typeface="Segoe UI"/>
              </a:rPr>
              <a:t>1,0000</a:t>
            </a:r>
          </a:p>
          <a:p>
            <a:pPr algn="l">
              <a:lnSpc>
                <a:spcPct val="120000"/>
              </a:lnSpc>
              <a:spcAft>
                <a:spcPts val="700"/>
              </a:spcAft>
            </a:pPr>
            <a:r>
              <a:rPr sz="1150" b="1" i="0">
                <a:solidFill>
                  <a:srgbClr val="E3B341"/>
                </a:solidFill>
                <a:latin typeface="Segoe UI"/>
              </a:rPr>
              <a:t>●  </a:t>
            </a:r>
            <a:r>
              <a:rPr sz="1150" b="0" i="0">
                <a:solidFill>
                  <a:srgbClr val="ADBED1"/>
                </a:solidFill>
                <a:latin typeface="Segoe UI"/>
              </a:rPr>
              <a:t>Betweenness   </a:t>
            </a:r>
            <a:r>
              <a:rPr sz="1150" b="1" i="0">
                <a:solidFill>
                  <a:srgbClr val="F2F6FA"/>
                </a:solidFill>
                <a:latin typeface="Segoe UI"/>
              </a:rPr>
              <a:t>0,0500</a:t>
            </a:r>
          </a:p>
          <a:p>
            <a:pPr algn="l">
              <a:lnSpc>
                <a:spcPct val="120000"/>
              </a:lnSpc>
              <a:spcAft>
                <a:spcPts val="700"/>
              </a:spcAft>
            </a:pPr>
            <a:r>
              <a:rPr sz="1150" b="1" i="0">
                <a:solidFill>
                  <a:srgbClr val="34C98B"/>
                </a:solidFill>
                <a:latin typeface="Segoe UI"/>
              </a:rPr>
              <a:t>○  </a:t>
            </a:r>
            <a:r>
              <a:rPr sz="1150" b="0" i="0">
                <a:solidFill>
                  <a:srgbClr val="ADBED1"/>
                </a:solidFill>
                <a:latin typeface="Segoe UI"/>
              </a:rPr>
              <a:t>Out-Degree — Sufyan   </a:t>
            </a:r>
            <a:r>
              <a:rPr sz="1150" b="1" i="0">
                <a:solidFill>
                  <a:srgbClr val="F2F6FA"/>
                </a:solidFill>
                <a:latin typeface="Segoe UI"/>
              </a:rPr>
              <a:t>0,0135</a:t>
            </a:r>
          </a:p>
        </p:txBody>
      </p:sp>
      <p:sp>
        <p:nvSpPr>
          <p:cNvPr id="10" name="Rounded Rectangle 9"/>
          <p:cNvSpPr/>
          <p:nvPr/>
        </p:nvSpPr>
        <p:spPr>
          <a:xfrm>
            <a:off x="4983480" y="1600200"/>
            <a:ext cx="6656832" cy="3794760"/>
          </a:xfrm>
          <a:prstGeom prst="roundRect">
            <a:avLst>
              <a:gd name="adj" fmla="val 6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1810512"/>
            <a:ext cx="6035040" cy="274320"/>
          </a:xfrm>
          <a:prstGeom prst="rect">
            <a:avLst/>
          </a:prstGeom>
          <a:noFill/>
        </p:spPr>
        <p:txBody>
          <a:bodyPr wrap="square" anchor="t" lIns="0" rIns="0" tIns="0" bIns="0">
            <a:spAutoFit/>
          </a:bodyPr>
          <a:lstStyle/>
          <a:p>
            <a:pPr algn="l">
              <a:lnSpc>
                <a:spcPct val="112000"/>
              </a:lnSpc>
              <a:spcAft>
                <a:spcPts val="200"/>
              </a:spcAft>
            </a:pPr>
            <a:r>
              <a:rPr sz="1000" b="1" i="0">
                <a:solidFill>
                  <a:srgbClr val="74889E"/>
                </a:solidFill>
                <a:latin typeface="Segoe UI"/>
              </a:rPr>
              <a:t>TOP 5 — EIGENVECTOR CENTRALITY (GRAF PENUH)</a:t>
            </a:r>
          </a:p>
        </p:txBody>
      </p:sp>
      <p:sp>
        <p:nvSpPr>
          <p:cNvPr id="12" name="Rounded Rectangle 11"/>
          <p:cNvSpPr/>
          <p:nvPr/>
        </p:nvSpPr>
        <p:spPr>
          <a:xfrm>
            <a:off x="5303520" y="2432304"/>
            <a:ext cx="4160520" cy="237744"/>
          </a:xfrm>
          <a:prstGeom prst="roundRect">
            <a:avLst>
              <a:gd name="adj" fmla="val 50000"/>
            </a:avLst>
          </a:prstGeom>
          <a:solidFill>
            <a:srgbClr val="11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03520" y="2432304"/>
            <a:ext cx="3859625" cy="237744"/>
          </a:xfrm>
          <a:prstGeom prst="roundRect">
            <a:avLst>
              <a:gd name="adj" fmla="val 50000"/>
            </a:avLst>
          </a:prstGeom>
          <a:solidFill>
            <a:srgbClr val="B08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2212848"/>
            <a:ext cx="3108960" cy="219456"/>
          </a:xfrm>
          <a:prstGeom prst="rect">
            <a:avLst/>
          </a:prstGeom>
          <a:noFill/>
        </p:spPr>
        <p:txBody>
          <a:bodyPr wrap="square" anchor="t" lIns="0" rIns="0" tIns="0" bIns="0">
            <a:spAutoFit/>
          </a:bodyPr>
          <a:lstStyle/>
          <a:p>
            <a:pPr algn="l">
              <a:lnSpc>
                <a:spcPct val="112000"/>
              </a:lnSpc>
              <a:spcAft>
                <a:spcPts val="200"/>
              </a:spcAft>
            </a:pPr>
            <a:r>
              <a:rPr sz="1000" b="1" i="0">
                <a:solidFill>
                  <a:srgbClr val="F2F6FA"/>
                </a:solidFill>
                <a:latin typeface="Segoe UI"/>
              </a:rPr>
              <a:t>Abu Hurairah</a:t>
            </a:r>
          </a:p>
        </p:txBody>
      </p:sp>
      <p:sp>
        <p:nvSpPr>
          <p:cNvPr id="15" name="TextBox 14"/>
          <p:cNvSpPr txBox="1"/>
          <p:nvPr/>
        </p:nvSpPr>
        <p:spPr>
          <a:xfrm>
            <a:off x="9272873" y="2441448"/>
            <a:ext cx="822960" cy="219456"/>
          </a:xfrm>
          <a:prstGeom prst="rect">
            <a:avLst/>
          </a:prstGeom>
          <a:noFill/>
        </p:spPr>
        <p:txBody>
          <a:bodyPr wrap="square" anchor="t" lIns="0" rIns="0" tIns="0" bIns="0">
            <a:spAutoFit/>
          </a:bodyPr>
          <a:lstStyle/>
          <a:p>
            <a:pPr algn="l">
              <a:lnSpc>
                <a:spcPct val="112000"/>
              </a:lnSpc>
              <a:spcAft>
                <a:spcPts val="200"/>
              </a:spcAft>
            </a:pPr>
            <a:r>
              <a:rPr sz="950" b="0" i="0">
                <a:solidFill>
                  <a:srgbClr val="F2F6FA"/>
                </a:solidFill>
                <a:latin typeface="Segoe UI"/>
              </a:rPr>
              <a:t>0,5195</a:t>
            </a:r>
          </a:p>
        </p:txBody>
      </p:sp>
      <p:sp>
        <p:nvSpPr>
          <p:cNvPr id="16" name="Rounded Rectangle 15"/>
          <p:cNvSpPr/>
          <p:nvPr/>
        </p:nvSpPr>
        <p:spPr>
          <a:xfrm>
            <a:off x="5303520" y="3035808"/>
            <a:ext cx="4160520" cy="237744"/>
          </a:xfrm>
          <a:prstGeom prst="roundRect">
            <a:avLst>
              <a:gd name="adj" fmla="val 50000"/>
            </a:avLst>
          </a:prstGeom>
          <a:solidFill>
            <a:srgbClr val="11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03520" y="3035808"/>
            <a:ext cx="3592906" cy="237744"/>
          </a:xfrm>
          <a:prstGeom prst="roundRect">
            <a:avLst>
              <a:gd name="adj" fmla="val 50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816352"/>
            <a:ext cx="3108960" cy="219456"/>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Aisyah</a:t>
            </a:r>
          </a:p>
        </p:txBody>
      </p:sp>
      <p:sp>
        <p:nvSpPr>
          <p:cNvPr id="19" name="TextBox 18"/>
          <p:cNvSpPr txBox="1"/>
          <p:nvPr/>
        </p:nvSpPr>
        <p:spPr>
          <a:xfrm>
            <a:off x="9006154" y="3044952"/>
            <a:ext cx="822960" cy="219456"/>
          </a:xfrm>
          <a:prstGeom prst="rect">
            <a:avLst/>
          </a:prstGeom>
          <a:noFill/>
        </p:spPr>
        <p:txBody>
          <a:bodyPr wrap="square" anchor="t" lIns="0" rIns="0" tIns="0" bIns="0">
            <a:spAutoFit/>
          </a:bodyPr>
          <a:lstStyle/>
          <a:p>
            <a:pPr algn="l">
              <a:lnSpc>
                <a:spcPct val="112000"/>
              </a:lnSpc>
              <a:spcAft>
                <a:spcPts val="200"/>
              </a:spcAft>
            </a:pPr>
            <a:r>
              <a:rPr sz="950" b="0" i="0">
                <a:solidFill>
                  <a:srgbClr val="F2F6FA"/>
                </a:solidFill>
                <a:latin typeface="Segoe UI"/>
              </a:rPr>
              <a:t>0,4836</a:t>
            </a:r>
          </a:p>
        </p:txBody>
      </p:sp>
      <p:sp>
        <p:nvSpPr>
          <p:cNvPr id="20" name="Rounded Rectangle 19"/>
          <p:cNvSpPr/>
          <p:nvPr/>
        </p:nvSpPr>
        <p:spPr>
          <a:xfrm>
            <a:off x="5303520" y="3639312"/>
            <a:ext cx="4160520" cy="237744"/>
          </a:xfrm>
          <a:prstGeom prst="roundRect">
            <a:avLst>
              <a:gd name="adj" fmla="val 50000"/>
            </a:avLst>
          </a:prstGeom>
          <a:solidFill>
            <a:srgbClr val="11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03520" y="3639312"/>
            <a:ext cx="2838811" cy="237744"/>
          </a:xfrm>
          <a:prstGeom prst="roundRect">
            <a:avLst>
              <a:gd name="adj" fmla="val 50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3419856"/>
            <a:ext cx="3108960" cy="219456"/>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Ibnu Umar</a:t>
            </a:r>
          </a:p>
        </p:txBody>
      </p:sp>
      <p:sp>
        <p:nvSpPr>
          <p:cNvPr id="23" name="TextBox 22"/>
          <p:cNvSpPr txBox="1"/>
          <p:nvPr/>
        </p:nvSpPr>
        <p:spPr>
          <a:xfrm>
            <a:off x="8252059" y="3648456"/>
            <a:ext cx="822960" cy="219456"/>
          </a:xfrm>
          <a:prstGeom prst="rect">
            <a:avLst/>
          </a:prstGeom>
          <a:noFill/>
        </p:spPr>
        <p:txBody>
          <a:bodyPr wrap="square" anchor="t" lIns="0" rIns="0" tIns="0" bIns="0">
            <a:spAutoFit/>
          </a:bodyPr>
          <a:lstStyle/>
          <a:p>
            <a:pPr algn="l">
              <a:lnSpc>
                <a:spcPct val="112000"/>
              </a:lnSpc>
              <a:spcAft>
                <a:spcPts val="200"/>
              </a:spcAft>
            </a:pPr>
            <a:r>
              <a:rPr sz="950" b="0" i="0">
                <a:solidFill>
                  <a:srgbClr val="F2F6FA"/>
                </a:solidFill>
                <a:latin typeface="Segoe UI"/>
              </a:rPr>
              <a:t>0,3821</a:t>
            </a:r>
          </a:p>
        </p:txBody>
      </p:sp>
      <p:sp>
        <p:nvSpPr>
          <p:cNvPr id="24" name="Rounded Rectangle 23"/>
          <p:cNvSpPr/>
          <p:nvPr/>
        </p:nvSpPr>
        <p:spPr>
          <a:xfrm>
            <a:off x="5303520" y="4242816"/>
            <a:ext cx="4160520" cy="237744"/>
          </a:xfrm>
          <a:prstGeom prst="roundRect">
            <a:avLst>
              <a:gd name="adj" fmla="val 50000"/>
            </a:avLst>
          </a:prstGeom>
          <a:solidFill>
            <a:srgbClr val="11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303520" y="4242816"/>
            <a:ext cx="1975504" cy="237744"/>
          </a:xfrm>
          <a:prstGeom prst="roundRect">
            <a:avLst>
              <a:gd name="adj" fmla="val 50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0" y="4023360"/>
            <a:ext cx="3108960" cy="219456"/>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Ibnu Abbas</a:t>
            </a:r>
          </a:p>
        </p:txBody>
      </p:sp>
      <p:sp>
        <p:nvSpPr>
          <p:cNvPr id="27" name="TextBox 26"/>
          <p:cNvSpPr txBox="1"/>
          <p:nvPr/>
        </p:nvSpPr>
        <p:spPr>
          <a:xfrm>
            <a:off x="7388752" y="4251960"/>
            <a:ext cx="822960" cy="219456"/>
          </a:xfrm>
          <a:prstGeom prst="rect">
            <a:avLst/>
          </a:prstGeom>
          <a:noFill/>
        </p:spPr>
        <p:txBody>
          <a:bodyPr wrap="square" anchor="t" lIns="0" rIns="0" tIns="0" bIns="0">
            <a:spAutoFit/>
          </a:bodyPr>
          <a:lstStyle/>
          <a:p>
            <a:pPr algn="l">
              <a:lnSpc>
                <a:spcPct val="112000"/>
              </a:lnSpc>
              <a:spcAft>
                <a:spcPts val="200"/>
              </a:spcAft>
            </a:pPr>
            <a:r>
              <a:rPr sz="950" b="0" i="0">
                <a:solidFill>
                  <a:srgbClr val="F2F6FA"/>
                </a:solidFill>
                <a:latin typeface="Segoe UI"/>
              </a:rPr>
              <a:t>0,2659</a:t>
            </a:r>
          </a:p>
        </p:txBody>
      </p:sp>
      <p:sp>
        <p:nvSpPr>
          <p:cNvPr id="28" name="Rounded Rectangle 27"/>
          <p:cNvSpPr/>
          <p:nvPr/>
        </p:nvSpPr>
        <p:spPr>
          <a:xfrm>
            <a:off x="5303520" y="4846320"/>
            <a:ext cx="4160520" cy="237744"/>
          </a:xfrm>
          <a:prstGeom prst="roundRect">
            <a:avLst>
              <a:gd name="adj" fmla="val 50000"/>
            </a:avLst>
          </a:prstGeom>
          <a:solidFill>
            <a:srgbClr val="11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303520" y="4846320"/>
            <a:ext cx="1280102" cy="237744"/>
          </a:xfrm>
          <a:prstGeom prst="roundRect">
            <a:avLst>
              <a:gd name="adj" fmla="val 50000"/>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0" y="4626864"/>
            <a:ext cx="3108960" cy="219456"/>
          </a:xfrm>
          <a:prstGeom prst="rect">
            <a:avLst/>
          </a:prstGeom>
          <a:noFill/>
        </p:spPr>
        <p:txBody>
          <a:bodyPr wrap="square" anchor="t" lIns="0" rIns="0" tIns="0" bIns="0">
            <a:spAutoFit/>
          </a:bodyPr>
          <a:lstStyle/>
          <a:p>
            <a:pPr algn="l">
              <a:lnSpc>
                <a:spcPct val="112000"/>
              </a:lnSpc>
              <a:spcAft>
                <a:spcPts val="200"/>
              </a:spcAft>
            </a:pPr>
            <a:r>
              <a:rPr sz="1000" b="0" i="0">
                <a:solidFill>
                  <a:srgbClr val="ADBED1"/>
                </a:solidFill>
                <a:latin typeface="Segoe UI"/>
              </a:rPr>
              <a:t>Anas bin Malik</a:t>
            </a:r>
          </a:p>
        </p:txBody>
      </p:sp>
      <p:sp>
        <p:nvSpPr>
          <p:cNvPr id="31" name="TextBox 30"/>
          <p:cNvSpPr txBox="1"/>
          <p:nvPr/>
        </p:nvSpPr>
        <p:spPr>
          <a:xfrm>
            <a:off x="6693350" y="4855464"/>
            <a:ext cx="822960" cy="219456"/>
          </a:xfrm>
          <a:prstGeom prst="rect">
            <a:avLst/>
          </a:prstGeom>
          <a:noFill/>
        </p:spPr>
        <p:txBody>
          <a:bodyPr wrap="square" anchor="t" lIns="0" rIns="0" tIns="0" bIns="0">
            <a:spAutoFit/>
          </a:bodyPr>
          <a:lstStyle/>
          <a:p>
            <a:pPr algn="l">
              <a:lnSpc>
                <a:spcPct val="112000"/>
              </a:lnSpc>
              <a:spcAft>
                <a:spcPts val="200"/>
              </a:spcAft>
            </a:pPr>
            <a:r>
              <a:rPr sz="950" b="0" i="0">
                <a:solidFill>
                  <a:srgbClr val="F2F6FA"/>
                </a:solidFill>
                <a:latin typeface="Segoe UI"/>
              </a:rPr>
              <a:t>0,1723</a:t>
            </a:r>
          </a:p>
        </p:txBody>
      </p:sp>
      <p:sp>
        <p:nvSpPr>
          <p:cNvPr id="32" name="Rounded Rectangle 31"/>
          <p:cNvSpPr/>
          <p:nvPr/>
        </p:nvSpPr>
        <p:spPr>
          <a:xfrm>
            <a:off x="548640" y="5577840"/>
            <a:ext cx="11091672" cy="731520"/>
          </a:xfrm>
          <a:prstGeom prst="roundRect">
            <a:avLst>
              <a:gd name="adj" fmla="val 10000"/>
            </a:avLst>
          </a:prstGeom>
          <a:solidFill>
            <a:srgbClr val="112438"/>
          </a:solidFill>
          <a:ln w="13970">
            <a:solidFill>
              <a:srgbClr val="B082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5760720"/>
            <a:ext cx="10515600" cy="411480"/>
          </a:xfrm>
          <a:prstGeom prst="rect">
            <a:avLst/>
          </a:prstGeom>
          <a:noFill/>
        </p:spPr>
        <p:txBody>
          <a:bodyPr wrap="square" anchor="t" lIns="0" rIns="0" tIns="0" bIns="0">
            <a:spAutoFit/>
          </a:bodyPr>
          <a:lstStyle/>
          <a:p>
            <a:pPr algn="l">
              <a:lnSpc>
                <a:spcPct val="112000"/>
              </a:lnSpc>
              <a:spcAft>
                <a:spcPts val="200"/>
              </a:spcAft>
            </a:pPr>
            <a:r>
              <a:rPr sz="1200" b="1" i="0">
                <a:solidFill>
                  <a:srgbClr val="E3B341"/>
                </a:solidFill>
                <a:latin typeface="Segoe UI"/>
              </a:rPr>
              <a:t>Insight:  </a:t>
            </a:r>
            <a:r>
              <a:rPr sz="1200" b="0" i="0">
                <a:solidFill>
                  <a:srgbClr val="F2F6FA"/>
                </a:solidFill>
                <a:latin typeface="Segoe UI"/>
              </a:rPr>
              <a:t>pengaruh terkonsentrasi pada segelintir perawi inti yang saling terhubung erat — selaras dengan konsep common link dalam ilmu hadis.</a:t>
            </a:r>
          </a:p>
        </p:txBody>
      </p:sp>
      <p:sp>
        <p:nvSpPr>
          <p:cNvPr id="34" name="TextBox 33"/>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35" name="TextBox 34"/>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a:off x="10493546" y="809926"/>
            <a:ext cx="489096" cy="2271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982642" y="353327"/>
            <a:ext cx="429608" cy="45659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692573" y="662093"/>
            <a:ext cx="96388" cy="41889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10982642" y="809926"/>
            <a:ext cx="709931" cy="27106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692573" y="662093"/>
            <a:ext cx="96388" cy="41889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1412250" y="353327"/>
            <a:ext cx="376711" cy="30876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148485" y="742198"/>
            <a:ext cx="345061" cy="9044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48485" y="742198"/>
            <a:ext cx="834157" cy="6772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0148485" y="742198"/>
            <a:ext cx="345061" cy="9044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493546" y="809926"/>
            <a:ext cx="489096" cy="2271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412250" y="353327"/>
            <a:ext cx="376711" cy="30876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982642" y="353327"/>
            <a:ext cx="429608" cy="45659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900514" y="727798"/>
            <a:ext cx="164255" cy="164255"/>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38893" y="1027311"/>
            <a:ext cx="107360" cy="10736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38759" y="611891"/>
            <a:ext cx="100404" cy="100404"/>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07279" y="700992"/>
            <a:ext cx="82412" cy="82412"/>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15397" y="754490"/>
            <a:ext cx="156297" cy="156297"/>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76606" y="317683"/>
            <a:ext cx="71286" cy="71286"/>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11 · PENGUJIAN &amp; VALIDASI</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14 Skenario Black-Box, Semuanya Valid</a:t>
            </a:r>
          </a:p>
        </p:txBody>
      </p:sp>
      <p:sp>
        <p:nvSpPr>
          <p:cNvPr id="24" name="TextBox 23"/>
          <p:cNvSpPr txBox="1"/>
          <p:nvPr/>
        </p:nvSpPr>
        <p:spPr>
          <a:xfrm>
            <a:off x="548640" y="1243584"/>
            <a:ext cx="11064240" cy="457200"/>
          </a:xfrm>
          <a:prstGeom prst="rect">
            <a:avLst/>
          </a:prstGeom>
          <a:noFill/>
        </p:spPr>
        <p:txBody>
          <a:bodyPr wrap="square" anchor="t" lIns="0" rIns="0" tIns="0" bIns="0">
            <a:spAutoFit/>
          </a:bodyPr>
          <a:lstStyle/>
          <a:p>
            <a:pPr algn="l">
              <a:lnSpc>
                <a:spcPct val="112000"/>
              </a:lnSpc>
              <a:spcAft>
                <a:spcPts val="200"/>
              </a:spcAft>
            </a:pPr>
            <a:r>
              <a:rPr sz="1250" b="0" i="0">
                <a:solidFill>
                  <a:srgbClr val="ADBED1"/>
                </a:solidFill>
                <a:latin typeface="Segoe UI"/>
              </a:rPr>
              <a:t>Seluruh fitur dashboard diuji terhadap hasil yang diharapkan — tanpa satu pun kegagalan.</a:t>
            </a:r>
          </a:p>
        </p:txBody>
      </p:sp>
      <p:sp>
        <p:nvSpPr>
          <p:cNvPr id="25" name="Rounded Rectangle 24"/>
          <p:cNvSpPr/>
          <p:nvPr/>
        </p:nvSpPr>
        <p:spPr>
          <a:xfrm>
            <a:off x="548640" y="1874519"/>
            <a:ext cx="3520440" cy="3703320"/>
          </a:xfrm>
          <a:prstGeom prst="roundRect">
            <a:avLst>
              <a:gd name="adj" fmla="val 6000"/>
            </a:avLst>
          </a:prstGeom>
          <a:solidFill>
            <a:srgbClr val="152A42"/>
          </a:solidFill>
          <a:ln w="17780">
            <a:solidFill>
              <a:srgbClr val="26A2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377440"/>
            <a:ext cx="3520440" cy="914400"/>
          </a:xfrm>
          <a:prstGeom prst="rect">
            <a:avLst/>
          </a:prstGeom>
          <a:noFill/>
        </p:spPr>
        <p:txBody>
          <a:bodyPr wrap="square" anchor="t" lIns="0" rIns="0" tIns="0" bIns="0">
            <a:spAutoFit/>
          </a:bodyPr>
          <a:lstStyle/>
          <a:p>
            <a:pPr algn="ctr">
              <a:lnSpc>
                <a:spcPct val="112000"/>
              </a:lnSpc>
              <a:spcAft>
                <a:spcPts val="200"/>
              </a:spcAft>
            </a:pPr>
            <a:r>
              <a:rPr sz="5400" b="1" i="0">
                <a:solidFill>
                  <a:srgbClr val="34C98B"/>
                </a:solidFill>
                <a:latin typeface="Segoe UI"/>
              </a:rPr>
              <a:t>100%</a:t>
            </a:r>
          </a:p>
        </p:txBody>
      </p:sp>
      <p:sp>
        <p:nvSpPr>
          <p:cNvPr id="27" name="TextBox 26"/>
          <p:cNvSpPr txBox="1"/>
          <p:nvPr/>
        </p:nvSpPr>
        <p:spPr>
          <a:xfrm>
            <a:off x="548640" y="3429000"/>
            <a:ext cx="3520440" cy="365760"/>
          </a:xfrm>
          <a:prstGeom prst="rect">
            <a:avLst/>
          </a:prstGeom>
          <a:noFill/>
        </p:spPr>
        <p:txBody>
          <a:bodyPr wrap="square" anchor="t" lIns="0" rIns="0" tIns="0" bIns="0">
            <a:spAutoFit/>
          </a:bodyPr>
          <a:lstStyle/>
          <a:p>
            <a:pPr algn="ctr">
              <a:lnSpc>
                <a:spcPct val="112000"/>
              </a:lnSpc>
              <a:spcAft>
                <a:spcPts val="200"/>
              </a:spcAft>
            </a:pPr>
            <a:r>
              <a:rPr sz="1400" b="1" i="0">
                <a:solidFill>
                  <a:srgbClr val="F2F6FA"/>
                </a:solidFill>
                <a:latin typeface="Segoe UI"/>
              </a:rPr>
              <a:t>14 / 14 skenario valid</a:t>
            </a:r>
          </a:p>
        </p:txBody>
      </p:sp>
      <p:sp>
        <p:nvSpPr>
          <p:cNvPr id="28" name="TextBox 27"/>
          <p:cNvSpPr txBox="1"/>
          <p:nvPr/>
        </p:nvSpPr>
        <p:spPr>
          <a:xfrm>
            <a:off x="777240" y="3886200"/>
            <a:ext cx="3063240" cy="731520"/>
          </a:xfrm>
          <a:prstGeom prst="rect">
            <a:avLst/>
          </a:prstGeom>
          <a:noFill/>
        </p:spPr>
        <p:txBody>
          <a:bodyPr wrap="square" anchor="t" lIns="0" rIns="0" tIns="0" bIns="0">
            <a:spAutoFit/>
          </a:bodyPr>
          <a:lstStyle/>
          <a:p>
            <a:pPr algn="ctr">
              <a:lnSpc>
                <a:spcPct val="125000"/>
              </a:lnSpc>
              <a:spcAft>
                <a:spcPts val="200"/>
              </a:spcAft>
            </a:pPr>
            <a:r>
              <a:rPr sz="1000" b="0" i="0">
                <a:solidFill>
                  <a:srgbClr val="ADBED1"/>
                </a:solidFill>
                <a:latin typeface="Segoe UI"/>
              </a:rPr>
              <a:t>Metode black-box: perilaku sistem diuji dari sisi pengguna, dibandingkan dengan hasil yang diharapkan.</a:t>
            </a:r>
          </a:p>
        </p:txBody>
      </p:sp>
      <p:sp>
        <p:nvSpPr>
          <p:cNvPr id="29" name="Rounded Rectangle 28"/>
          <p:cNvSpPr/>
          <p:nvPr/>
        </p:nvSpPr>
        <p:spPr>
          <a:xfrm>
            <a:off x="4343400" y="1874519"/>
            <a:ext cx="7296912" cy="1124712"/>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2039112"/>
            <a:ext cx="23774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FONDASI</a:t>
            </a:r>
          </a:p>
        </p:txBody>
      </p:sp>
      <p:sp>
        <p:nvSpPr>
          <p:cNvPr id="31" name="TextBox 30"/>
          <p:cNvSpPr txBox="1"/>
          <p:nvPr/>
        </p:nvSpPr>
        <p:spPr>
          <a:xfrm>
            <a:off x="4617720" y="2331720"/>
            <a:ext cx="237744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74889E"/>
                </a:solidFill>
                <a:latin typeface="Segoe UI"/>
              </a:rPr>
              <a:t>Skenario 1–2</a:t>
            </a:r>
          </a:p>
        </p:txBody>
      </p:sp>
      <p:sp>
        <p:nvSpPr>
          <p:cNvPr id="32" name="TextBox 31"/>
          <p:cNvSpPr txBox="1"/>
          <p:nvPr/>
        </p:nvSpPr>
        <p:spPr>
          <a:xfrm>
            <a:off x="6812280" y="2039112"/>
            <a:ext cx="3657600" cy="822960"/>
          </a:xfrm>
          <a:prstGeom prst="rect">
            <a:avLst/>
          </a:prstGeom>
          <a:noFill/>
        </p:spPr>
        <p:txBody>
          <a:bodyPr wrap="square" anchor="t" lIns="0" rIns="0" tIns="0" bIns="0">
            <a:spAutoFit/>
          </a:bodyPr>
          <a:lstStyle/>
          <a:p>
            <a:pPr algn="l">
              <a:lnSpc>
                <a:spcPct val="120000"/>
              </a:lnSpc>
              <a:spcAft>
                <a:spcPts val="200"/>
              </a:spcAft>
            </a:pPr>
            <a:r>
              <a:rPr sz="1050" b="0" i="0">
                <a:solidFill>
                  <a:srgbClr val="ADBED1"/>
                </a:solidFill>
                <a:latin typeface="Segoe UI"/>
              </a:rPr>
              <a:t>Navigasi antarhalaman · pemuatan data dari Supabase</a:t>
            </a:r>
          </a:p>
        </p:txBody>
      </p:sp>
      <p:sp>
        <p:nvSpPr>
          <p:cNvPr id="33" name="Rounded Rectangle 32"/>
          <p:cNvSpPr/>
          <p:nvPr/>
        </p:nvSpPr>
        <p:spPr>
          <a:xfrm>
            <a:off x="10561320" y="2221991"/>
            <a:ext cx="868680" cy="384048"/>
          </a:xfrm>
          <a:prstGeom prst="roundRect">
            <a:avLst>
              <a:gd name="adj" fmla="val 50000"/>
            </a:avLst>
          </a:prstGeom>
          <a:solidFill>
            <a:srgbClr val="1B5E44"/>
          </a:solidFill>
          <a:ln w="1270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61320" y="2295144"/>
            <a:ext cx="868680" cy="274320"/>
          </a:xfrm>
          <a:prstGeom prst="rect">
            <a:avLst/>
          </a:prstGeom>
          <a:noFill/>
        </p:spPr>
        <p:txBody>
          <a:bodyPr wrap="square" anchor="t" lIns="0" rIns="0" tIns="0" bIns="0">
            <a:spAutoFit/>
          </a:bodyPr>
          <a:lstStyle/>
          <a:p>
            <a:pPr algn="ctr">
              <a:lnSpc>
                <a:spcPct val="112000"/>
              </a:lnSpc>
              <a:spcAft>
                <a:spcPts val="200"/>
              </a:spcAft>
            </a:pPr>
            <a:r>
              <a:rPr sz="1000" b="1" i="0">
                <a:solidFill>
                  <a:srgbClr val="F2F6FA"/>
                </a:solidFill>
                <a:latin typeface="Segoe UI"/>
              </a:rPr>
              <a:t>✓ 2</a:t>
            </a:r>
          </a:p>
        </p:txBody>
      </p:sp>
      <p:sp>
        <p:nvSpPr>
          <p:cNvPr id="35" name="Rounded Rectangle 34"/>
          <p:cNvSpPr/>
          <p:nvPr/>
        </p:nvSpPr>
        <p:spPr>
          <a:xfrm>
            <a:off x="4343400" y="3163824"/>
            <a:ext cx="7296912" cy="1124712"/>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3328416"/>
            <a:ext cx="23774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EKSPLORASI GRAF</a:t>
            </a:r>
          </a:p>
        </p:txBody>
      </p:sp>
      <p:sp>
        <p:nvSpPr>
          <p:cNvPr id="37" name="TextBox 36"/>
          <p:cNvSpPr txBox="1"/>
          <p:nvPr/>
        </p:nvSpPr>
        <p:spPr>
          <a:xfrm>
            <a:off x="4617720" y="3621024"/>
            <a:ext cx="237744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74889E"/>
                </a:solidFill>
                <a:latin typeface="Segoe UI"/>
              </a:rPr>
              <a:t>Skenario 3–9</a:t>
            </a:r>
          </a:p>
        </p:txBody>
      </p:sp>
      <p:sp>
        <p:nvSpPr>
          <p:cNvPr id="38" name="TextBox 37"/>
          <p:cNvSpPr txBox="1"/>
          <p:nvPr/>
        </p:nvSpPr>
        <p:spPr>
          <a:xfrm>
            <a:off x="6812280" y="3328416"/>
            <a:ext cx="3657600" cy="822960"/>
          </a:xfrm>
          <a:prstGeom prst="rect">
            <a:avLst/>
          </a:prstGeom>
          <a:noFill/>
        </p:spPr>
        <p:txBody>
          <a:bodyPr wrap="square" anchor="t" lIns="0" rIns="0" tIns="0" bIns="0">
            <a:spAutoFit/>
          </a:bodyPr>
          <a:lstStyle/>
          <a:p>
            <a:pPr algn="l">
              <a:lnSpc>
                <a:spcPct val="120000"/>
              </a:lnSpc>
              <a:spcAft>
                <a:spcPts val="200"/>
              </a:spcAft>
            </a:pPr>
            <a:r>
              <a:rPr sz="1050" b="0" i="0">
                <a:solidFill>
                  <a:srgbClr val="ADBED1"/>
                </a:solidFill>
                <a:latin typeface="Segoe UI"/>
              </a:rPr>
              <a:t>Render graf · pilih node · filter metrik · pencarian · zoom, drag, reset</a:t>
            </a:r>
          </a:p>
        </p:txBody>
      </p:sp>
      <p:sp>
        <p:nvSpPr>
          <p:cNvPr id="39" name="Rounded Rectangle 38"/>
          <p:cNvSpPr/>
          <p:nvPr/>
        </p:nvSpPr>
        <p:spPr>
          <a:xfrm>
            <a:off x="10561320" y="3511296"/>
            <a:ext cx="868680" cy="384048"/>
          </a:xfrm>
          <a:prstGeom prst="roundRect">
            <a:avLst>
              <a:gd name="adj" fmla="val 50000"/>
            </a:avLst>
          </a:prstGeom>
          <a:solidFill>
            <a:srgbClr val="1B5E44"/>
          </a:solidFill>
          <a:ln w="1270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61320" y="3584448"/>
            <a:ext cx="868680" cy="274320"/>
          </a:xfrm>
          <a:prstGeom prst="rect">
            <a:avLst/>
          </a:prstGeom>
          <a:noFill/>
        </p:spPr>
        <p:txBody>
          <a:bodyPr wrap="square" anchor="t" lIns="0" rIns="0" tIns="0" bIns="0">
            <a:spAutoFit/>
          </a:bodyPr>
          <a:lstStyle/>
          <a:p>
            <a:pPr algn="ctr">
              <a:lnSpc>
                <a:spcPct val="112000"/>
              </a:lnSpc>
              <a:spcAft>
                <a:spcPts val="200"/>
              </a:spcAft>
            </a:pPr>
            <a:r>
              <a:rPr sz="1000" b="1" i="0">
                <a:solidFill>
                  <a:srgbClr val="F2F6FA"/>
                </a:solidFill>
                <a:latin typeface="Segoe UI"/>
              </a:rPr>
              <a:t>✓ 7</a:t>
            </a:r>
          </a:p>
        </p:txBody>
      </p:sp>
      <p:sp>
        <p:nvSpPr>
          <p:cNvPr id="41" name="Rounded Rectangle 40"/>
          <p:cNvSpPr/>
          <p:nvPr/>
        </p:nvSpPr>
        <p:spPr>
          <a:xfrm>
            <a:off x="4343400" y="4453128"/>
            <a:ext cx="7296912" cy="1124712"/>
          </a:xfrm>
          <a:prstGeom prst="roundRect">
            <a:avLst>
              <a:gd name="adj" fmla="val 8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17720" y="4617720"/>
            <a:ext cx="23774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PENYAJIAN DATA</a:t>
            </a:r>
          </a:p>
        </p:txBody>
      </p:sp>
      <p:sp>
        <p:nvSpPr>
          <p:cNvPr id="43" name="TextBox 42"/>
          <p:cNvSpPr txBox="1"/>
          <p:nvPr/>
        </p:nvSpPr>
        <p:spPr>
          <a:xfrm>
            <a:off x="4617720" y="4910328"/>
            <a:ext cx="2377440" cy="274320"/>
          </a:xfrm>
          <a:prstGeom prst="rect">
            <a:avLst/>
          </a:prstGeom>
          <a:noFill/>
        </p:spPr>
        <p:txBody>
          <a:bodyPr wrap="square" anchor="t" lIns="0" rIns="0" tIns="0" bIns="0">
            <a:spAutoFit/>
          </a:bodyPr>
          <a:lstStyle/>
          <a:p>
            <a:pPr algn="l">
              <a:lnSpc>
                <a:spcPct val="112000"/>
              </a:lnSpc>
              <a:spcAft>
                <a:spcPts val="200"/>
              </a:spcAft>
            </a:pPr>
            <a:r>
              <a:rPr sz="950" b="0" i="0">
                <a:solidFill>
                  <a:srgbClr val="74889E"/>
                </a:solidFill>
                <a:latin typeface="Segoe UI"/>
              </a:rPr>
              <a:t>Skenario 10–14</a:t>
            </a:r>
          </a:p>
        </p:txBody>
      </p:sp>
      <p:sp>
        <p:nvSpPr>
          <p:cNvPr id="44" name="TextBox 43"/>
          <p:cNvSpPr txBox="1"/>
          <p:nvPr/>
        </p:nvSpPr>
        <p:spPr>
          <a:xfrm>
            <a:off x="6812280" y="4617720"/>
            <a:ext cx="3657600" cy="822960"/>
          </a:xfrm>
          <a:prstGeom prst="rect">
            <a:avLst/>
          </a:prstGeom>
          <a:noFill/>
        </p:spPr>
        <p:txBody>
          <a:bodyPr wrap="square" anchor="t" lIns="0" rIns="0" tIns="0" bIns="0">
            <a:spAutoFit/>
          </a:bodyPr>
          <a:lstStyle/>
          <a:p>
            <a:pPr algn="l">
              <a:lnSpc>
                <a:spcPct val="120000"/>
              </a:lnSpc>
              <a:spcAft>
                <a:spcPts val="200"/>
              </a:spcAft>
            </a:pPr>
            <a:r>
              <a:rPr sz="1050" b="0" i="0">
                <a:solidFill>
                  <a:srgbClr val="ADBED1"/>
                </a:solidFill>
                <a:latin typeface="Segoe UI"/>
              </a:rPr>
              <a:t>Statistik · tabel relasi &amp; sentralitas · paginasi · pengurutan</a:t>
            </a:r>
          </a:p>
        </p:txBody>
      </p:sp>
      <p:sp>
        <p:nvSpPr>
          <p:cNvPr id="45" name="Rounded Rectangle 44"/>
          <p:cNvSpPr/>
          <p:nvPr/>
        </p:nvSpPr>
        <p:spPr>
          <a:xfrm>
            <a:off x="10561320" y="4800600"/>
            <a:ext cx="868680" cy="384048"/>
          </a:xfrm>
          <a:prstGeom prst="roundRect">
            <a:avLst>
              <a:gd name="adj" fmla="val 50000"/>
            </a:avLst>
          </a:prstGeom>
          <a:solidFill>
            <a:srgbClr val="1B5E44"/>
          </a:solidFill>
          <a:ln w="1270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61320" y="4873752"/>
            <a:ext cx="868680" cy="274320"/>
          </a:xfrm>
          <a:prstGeom prst="rect">
            <a:avLst/>
          </a:prstGeom>
          <a:noFill/>
        </p:spPr>
        <p:txBody>
          <a:bodyPr wrap="square" anchor="t" lIns="0" rIns="0" tIns="0" bIns="0">
            <a:spAutoFit/>
          </a:bodyPr>
          <a:lstStyle/>
          <a:p>
            <a:pPr algn="ctr">
              <a:lnSpc>
                <a:spcPct val="112000"/>
              </a:lnSpc>
              <a:spcAft>
                <a:spcPts val="200"/>
              </a:spcAft>
            </a:pPr>
            <a:r>
              <a:rPr sz="1000" b="1" i="0">
                <a:solidFill>
                  <a:srgbClr val="F2F6FA"/>
                </a:solidFill>
                <a:latin typeface="Segoe UI"/>
              </a:rPr>
              <a:t>✓ 5</a:t>
            </a:r>
          </a:p>
        </p:txBody>
      </p:sp>
      <p:sp>
        <p:nvSpPr>
          <p:cNvPr id="47" name="TextBox 46"/>
          <p:cNvSpPr txBox="1"/>
          <p:nvPr/>
        </p:nvSpPr>
        <p:spPr>
          <a:xfrm>
            <a:off x="548640" y="5806440"/>
            <a:ext cx="11064240" cy="320040"/>
          </a:xfrm>
          <a:prstGeom prst="rect">
            <a:avLst/>
          </a:prstGeom>
          <a:noFill/>
        </p:spPr>
        <p:txBody>
          <a:bodyPr wrap="square" anchor="t" lIns="0" rIns="0" tIns="0" bIns="0">
            <a:spAutoFit/>
          </a:bodyPr>
          <a:lstStyle/>
          <a:p>
            <a:pPr algn="l">
              <a:lnSpc>
                <a:spcPct val="112000"/>
              </a:lnSpc>
              <a:spcAft>
                <a:spcPts val="200"/>
              </a:spcAft>
            </a:pPr>
            <a:r>
              <a:rPr sz="1100" b="0" i="1">
                <a:solidFill>
                  <a:srgbClr val="74889E"/>
                </a:solidFill>
                <a:latin typeface="Segoe UI"/>
              </a:rPr>
              <a:t>Tidak ditemukan skenario gagal — tidak diperlukan iterasi perbaikan pada tahap pembangunan.</a:t>
            </a:r>
          </a:p>
        </p:txBody>
      </p:sp>
      <p:sp>
        <p:nvSpPr>
          <p:cNvPr id="48" name="TextBox 47"/>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49" name="TextBox 48"/>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H="1">
            <a:off x="11178704" y="358081"/>
            <a:ext cx="97868" cy="2538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276572" y="358081"/>
            <a:ext cx="307076" cy="67935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1178704" y="611943"/>
            <a:ext cx="404944" cy="42548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11276572" y="358081"/>
            <a:ext cx="307076" cy="679351"/>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78704" y="358081"/>
            <a:ext cx="97868" cy="2538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78704" y="611943"/>
            <a:ext cx="404944" cy="42548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174070" y="620487"/>
            <a:ext cx="334252" cy="27832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74070" y="898809"/>
            <a:ext cx="645241" cy="252983"/>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0174070" y="620487"/>
            <a:ext cx="334252" cy="27832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08322" y="620487"/>
            <a:ext cx="310989" cy="53130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0508322" y="620487"/>
            <a:ext cx="310989" cy="53130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0819311" y="611943"/>
            <a:ext cx="359393" cy="53984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207847" y="289356"/>
            <a:ext cx="137449" cy="137449"/>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521033" y="974818"/>
            <a:ext cx="125229" cy="125229"/>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15317" y="548556"/>
            <a:ext cx="126774" cy="126774"/>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06365" y="831104"/>
            <a:ext cx="135410" cy="135410"/>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32566" y="544730"/>
            <a:ext cx="151513" cy="151513"/>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729579" y="1062061"/>
            <a:ext cx="179463" cy="179463"/>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
            <a:ext cx="310896" cy="41148"/>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7472"/>
            <a:ext cx="8778240" cy="274320"/>
          </a:xfrm>
          <a:prstGeom prst="rect">
            <a:avLst/>
          </a:prstGeom>
          <a:noFill/>
        </p:spPr>
        <p:txBody>
          <a:bodyPr wrap="square" anchor="t" lIns="0" rIns="0" tIns="0" bIns="0">
            <a:spAutoFit/>
          </a:bodyPr>
          <a:lstStyle/>
          <a:p>
            <a:pPr algn="l">
              <a:lnSpc>
                <a:spcPct val="112000"/>
              </a:lnSpc>
              <a:spcAft>
                <a:spcPts val="200"/>
              </a:spcAft>
            </a:pPr>
            <a:r>
              <a:rPr sz="1050" b="1" i="0">
                <a:solidFill>
                  <a:srgbClr val="E3B341"/>
                </a:solidFill>
                <a:latin typeface="Segoe UI"/>
              </a:rPr>
              <a:t>12 · DAMPAK &amp; PENGEMBANGAN</a:t>
            </a:r>
          </a:p>
        </p:txBody>
      </p:sp>
      <p:sp>
        <p:nvSpPr>
          <p:cNvPr id="23" name="TextBox 22"/>
          <p:cNvSpPr txBox="1"/>
          <p:nvPr/>
        </p:nvSpPr>
        <p:spPr>
          <a:xfrm>
            <a:off x="548640" y="640080"/>
            <a:ext cx="11064240" cy="640080"/>
          </a:xfrm>
          <a:prstGeom prst="rect">
            <a:avLst/>
          </a:prstGeom>
          <a:noFill/>
        </p:spPr>
        <p:txBody>
          <a:bodyPr wrap="square" anchor="t" lIns="0" rIns="0" tIns="0" bIns="0">
            <a:spAutoFit/>
          </a:bodyPr>
          <a:lstStyle/>
          <a:p>
            <a:pPr algn="l">
              <a:lnSpc>
                <a:spcPct val="112000"/>
              </a:lnSpc>
              <a:spcAft>
                <a:spcPts val="200"/>
              </a:spcAft>
            </a:pPr>
            <a:r>
              <a:rPr sz="2800" b="1" i="0">
                <a:solidFill>
                  <a:srgbClr val="F2F6FA"/>
                </a:solidFill>
                <a:latin typeface="Segoe UI"/>
              </a:rPr>
              <a:t>Dampak Hari Ini, Peta Jalan ke Depan</a:t>
            </a:r>
          </a:p>
        </p:txBody>
      </p:sp>
      <p:sp>
        <p:nvSpPr>
          <p:cNvPr id="24" name="Rounded Rectangle 23"/>
          <p:cNvSpPr/>
          <p:nvPr/>
        </p:nvSpPr>
        <p:spPr>
          <a:xfrm>
            <a:off x="548640" y="1645920"/>
            <a:ext cx="5440680" cy="4206240"/>
          </a:xfrm>
          <a:prstGeom prst="roundRect">
            <a:avLst>
              <a:gd name="adj" fmla="val 5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1847088"/>
            <a:ext cx="4937760" cy="274320"/>
          </a:xfrm>
          <a:prstGeom prst="rect">
            <a:avLst/>
          </a:prstGeom>
          <a:noFill/>
        </p:spPr>
        <p:txBody>
          <a:bodyPr wrap="square" anchor="t" lIns="0" rIns="0" tIns="0" bIns="0">
            <a:spAutoFit/>
          </a:bodyPr>
          <a:lstStyle/>
          <a:p>
            <a:pPr algn="l">
              <a:lnSpc>
                <a:spcPct val="112000"/>
              </a:lnSpc>
              <a:spcAft>
                <a:spcPts val="200"/>
              </a:spcAft>
            </a:pPr>
            <a:r>
              <a:rPr sz="1100" b="1" i="0">
                <a:solidFill>
                  <a:srgbClr val="34C98B"/>
                </a:solidFill>
                <a:latin typeface="Segoe UI"/>
              </a:rPr>
              <a:t>DAMPAK — SIAPA TERBANTU?</a:t>
            </a:r>
          </a:p>
        </p:txBody>
      </p:sp>
      <p:sp>
        <p:nvSpPr>
          <p:cNvPr id="26" name="Oval 25"/>
          <p:cNvSpPr/>
          <p:nvPr/>
        </p:nvSpPr>
        <p:spPr>
          <a:xfrm>
            <a:off x="960119" y="2322576"/>
            <a:ext cx="146304" cy="146304"/>
          </a:xfrm>
          <a:prstGeom prst="ellipse">
            <a:avLst/>
          </a:prstGeom>
          <a:solidFill>
            <a:srgbClr val="34C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2231136"/>
            <a:ext cx="448056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Akademisi &amp; peneliti TI</a:t>
            </a:r>
          </a:p>
        </p:txBody>
      </p:sp>
      <p:sp>
        <p:nvSpPr>
          <p:cNvPr id="28" name="TextBox 27"/>
          <p:cNvSpPr txBox="1"/>
          <p:nvPr/>
        </p:nvSpPr>
        <p:spPr>
          <a:xfrm>
            <a:off x="1298448" y="2505456"/>
            <a:ext cx="4480560" cy="731520"/>
          </a:xfrm>
          <a:prstGeom prst="rect">
            <a:avLst/>
          </a:prstGeom>
          <a:noFill/>
        </p:spPr>
        <p:txBody>
          <a:bodyPr wrap="square" anchor="t" lIns="0" rIns="0" tIns="0" bIns="0">
            <a:spAutoFit/>
          </a:bodyPr>
          <a:lstStyle/>
          <a:p>
            <a:pPr algn="l">
              <a:lnSpc>
                <a:spcPct val="120000"/>
              </a:lnSpc>
              <a:spcAft>
                <a:spcPts val="200"/>
              </a:spcAft>
            </a:pPr>
            <a:r>
              <a:rPr sz="1000" b="0" i="0">
                <a:solidFill>
                  <a:srgbClr val="ADBED1"/>
                </a:solidFill>
                <a:latin typeface="Segoe UI"/>
              </a:rPr>
              <a:t>Referensi metodologis KG + SNA pada domain keislaman; hasil sentralitas dapat dibandingkan dengan penilaian ulama.</a:t>
            </a:r>
          </a:p>
        </p:txBody>
      </p:sp>
      <p:sp>
        <p:nvSpPr>
          <p:cNvPr id="29" name="Oval 28"/>
          <p:cNvSpPr/>
          <p:nvPr/>
        </p:nvSpPr>
        <p:spPr>
          <a:xfrm>
            <a:off x="960119" y="3493008"/>
            <a:ext cx="146304" cy="146304"/>
          </a:xfrm>
          <a:prstGeom prst="ellipse">
            <a:avLst/>
          </a:prstGeom>
          <a:solidFill>
            <a:srgbClr val="34C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98448" y="3401568"/>
            <a:ext cx="448056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Mahasiswa &amp; praktisi ilmu hadis</a:t>
            </a:r>
          </a:p>
        </p:txBody>
      </p:sp>
      <p:sp>
        <p:nvSpPr>
          <p:cNvPr id="31" name="TextBox 30"/>
          <p:cNvSpPr txBox="1"/>
          <p:nvPr/>
        </p:nvSpPr>
        <p:spPr>
          <a:xfrm>
            <a:off x="1298448" y="3675887"/>
            <a:ext cx="4480560" cy="731520"/>
          </a:xfrm>
          <a:prstGeom prst="rect">
            <a:avLst/>
          </a:prstGeom>
          <a:noFill/>
        </p:spPr>
        <p:txBody>
          <a:bodyPr wrap="square" anchor="t" lIns="0" rIns="0" tIns="0" bIns="0">
            <a:spAutoFit/>
          </a:bodyPr>
          <a:lstStyle/>
          <a:p>
            <a:pPr algn="l">
              <a:lnSpc>
                <a:spcPct val="120000"/>
              </a:lnSpc>
              <a:spcAft>
                <a:spcPts val="200"/>
              </a:spcAft>
            </a:pPr>
            <a:r>
              <a:rPr sz="1000" b="0" i="0">
                <a:solidFill>
                  <a:srgbClr val="ADBED1"/>
                </a:solidFill>
                <a:latin typeface="Segoe UI"/>
              </a:rPr>
              <a:t>Menelusuri otoritas perawi, jaringan guru–murid, dan pola transmisi ilmu antargenerasi.</a:t>
            </a:r>
          </a:p>
        </p:txBody>
      </p:sp>
      <p:sp>
        <p:nvSpPr>
          <p:cNvPr id="32" name="Oval 31"/>
          <p:cNvSpPr/>
          <p:nvPr/>
        </p:nvSpPr>
        <p:spPr>
          <a:xfrm>
            <a:off x="960119" y="4663440"/>
            <a:ext cx="146304" cy="146304"/>
          </a:xfrm>
          <a:prstGeom prst="ellipse">
            <a:avLst/>
          </a:prstGeom>
          <a:solidFill>
            <a:srgbClr val="34C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4572000"/>
            <a:ext cx="448056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Masyarakat umum</a:t>
            </a:r>
          </a:p>
        </p:txBody>
      </p:sp>
      <p:sp>
        <p:nvSpPr>
          <p:cNvPr id="34" name="TextBox 33"/>
          <p:cNvSpPr txBox="1"/>
          <p:nvPr/>
        </p:nvSpPr>
        <p:spPr>
          <a:xfrm>
            <a:off x="1298448" y="4846320"/>
            <a:ext cx="4480560" cy="731520"/>
          </a:xfrm>
          <a:prstGeom prst="rect">
            <a:avLst/>
          </a:prstGeom>
          <a:noFill/>
        </p:spPr>
        <p:txBody>
          <a:bodyPr wrap="square" anchor="t" lIns="0" rIns="0" tIns="0" bIns="0">
            <a:spAutoFit/>
          </a:bodyPr>
          <a:lstStyle/>
          <a:p>
            <a:pPr algn="l">
              <a:lnSpc>
                <a:spcPct val="120000"/>
              </a:lnSpc>
              <a:spcAft>
                <a:spcPts val="200"/>
              </a:spcAft>
            </a:pPr>
            <a:r>
              <a:rPr sz="1000" b="0" i="0">
                <a:solidFill>
                  <a:srgbClr val="ADBED1"/>
                </a:solidFill>
                <a:latin typeface="Segoe UI"/>
              </a:rPr>
              <a:t>Eksplorasi mandiri jaringan keilmuan Islam — tanpa keahlian teknis, tanpa instalasi.</a:t>
            </a:r>
          </a:p>
        </p:txBody>
      </p:sp>
      <p:sp>
        <p:nvSpPr>
          <p:cNvPr id="35" name="Rounded Rectangle 34"/>
          <p:cNvSpPr/>
          <p:nvPr/>
        </p:nvSpPr>
        <p:spPr>
          <a:xfrm>
            <a:off x="6199632" y="1645920"/>
            <a:ext cx="5440680" cy="4206240"/>
          </a:xfrm>
          <a:prstGeom prst="roundRect">
            <a:avLst>
              <a:gd name="adj" fmla="val 5000"/>
            </a:avLst>
          </a:prstGeom>
          <a:solidFill>
            <a:srgbClr val="152A42"/>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73952" y="1847088"/>
            <a:ext cx="4937760" cy="274320"/>
          </a:xfrm>
          <a:prstGeom prst="rect">
            <a:avLst/>
          </a:prstGeom>
          <a:noFill/>
        </p:spPr>
        <p:txBody>
          <a:bodyPr wrap="square" anchor="t" lIns="0" rIns="0" tIns="0" bIns="0">
            <a:spAutoFit/>
          </a:bodyPr>
          <a:lstStyle/>
          <a:p>
            <a:pPr algn="l">
              <a:lnSpc>
                <a:spcPct val="112000"/>
              </a:lnSpc>
              <a:spcAft>
                <a:spcPts val="200"/>
              </a:spcAft>
            </a:pPr>
            <a:r>
              <a:rPr sz="1100" b="1" i="0">
                <a:solidFill>
                  <a:srgbClr val="E3B341"/>
                </a:solidFill>
                <a:latin typeface="Segoe UI"/>
              </a:rPr>
              <a:t>ROADMAP PENGEMBANGAN</a:t>
            </a:r>
          </a:p>
        </p:txBody>
      </p:sp>
      <p:sp>
        <p:nvSpPr>
          <p:cNvPr id="37" name="Oval 36"/>
          <p:cNvSpPr/>
          <p:nvPr/>
        </p:nvSpPr>
        <p:spPr>
          <a:xfrm>
            <a:off x="6565392" y="2258568"/>
            <a:ext cx="310896" cy="310896"/>
          </a:xfrm>
          <a:prstGeom prst="ellipse">
            <a:avLst/>
          </a:prstGeom>
          <a:solidFill>
            <a:srgbClr val="6E5A1F"/>
          </a:solidFill>
          <a:ln w="1397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0256" y="2299716"/>
            <a:ext cx="201168" cy="237744"/>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1</a:t>
            </a:r>
          </a:p>
        </p:txBody>
      </p:sp>
      <p:sp>
        <p:nvSpPr>
          <p:cNvPr id="39" name="TextBox 38"/>
          <p:cNvSpPr txBox="1"/>
          <p:nvPr/>
        </p:nvSpPr>
        <p:spPr>
          <a:xfrm>
            <a:off x="7059168" y="2231136"/>
            <a:ext cx="434340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Sentralitas graf penuh</a:t>
            </a:r>
          </a:p>
        </p:txBody>
      </p:sp>
      <p:sp>
        <p:nvSpPr>
          <p:cNvPr id="40" name="TextBox 39"/>
          <p:cNvSpPr txBox="1"/>
          <p:nvPr/>
        </p:nvSpPr>
        <p:spPr>
          <a:xfrm>
            <a:off x="7059168" y="2505456"/>
            <a:ext cx="4343400" cy="548640"/>
          </a:xfrm>
          <a:prstGeom prst="rect">
            <a:avLst/>
          </a:prstGeom>
          <a:noFill/>
        </p:spPr>
        <p:txBody>
          <a:bodyPr wrap="square" anchor="t" lIns="0" rIns="0" tIns="0" bIns="0">
            <a:spAutoFit/>
          </a:bodyPr>
          <a:lstStyle/>
          <a:p>
            <a:pPr algn="l">
              <a:lnSpc>
                <a:spcPct val="118000"/>
              </a:lnSpc>
              <a:spcAft>
                <a:spcPts val="200"/>
              </a:spcAft>
            </a:pPr>
            <a:r>
              <a:rPr sz="1000" b="0" i="0">
                <a:solidFill>
                  <a:srgbClr val="ADBED1"/>
                </a:solidFill>
                <a:latin typeface="Segoe UI"/>
              </a:rPr>
              <a:t>Closeness &amp; betweenness untuk seluruh 177 rb simpul — aproksimasi / komputasi paralel.</a:t>
            </a:r>
          </a:p>
        </p:txBody>
      </p:sp>
      <p:sp>
        <p:nvSpPr>
          <p:cNvPr id="41" name="Oval 40"/>
          <p:cNvSpPr/>
          <p:nvPr/>
        </p:nvSpPr>
        <p:spPr>
          <a:xfrm>
            <a:off x="6565392" y="3145536"/>
            <a:ext cx="310896" cy="310896"/>
          </a:xfrm>
          <a:prstGeom prst="ellipse">
            <a:avLst/>
          </a:prstGeom>
          <a:solidFill>
            <a:srgbClr val="6E5A1F"/>
          </a:solidFill>
          <a:ln w="1397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0256" y="3186684"/>
            <a:ext cx="201168" cy="237744"/>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2</a:t>
            </a:r>
          </a:p>
        </p:txBody>
      </p:sp>
      <p:sp>
        <p:nvSpPr>
          <p:cNvPr id="43" name="TextBox 42"/>
          <p:cNvSpPr txBox="1"/>
          <p:nvPr/>
        </p:nvSpPr>
        <p:spPr>
          <a:xfrm>
            <a:off x="7059168" y="3118104"/>
            <a:ext cx="434340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Data hidup</a:t>
            </a:r>
          </a:p>
        </p:txBody>
      </p:sp>
      <p:sp>
        <p:nvSpPr>
          <p:cNvPr id="44" name="TextBox 43"/>
          <p:cNvSpPr txBox="1"/>
          <p:nvPr/>
        </p:nvSpPr>
        <p:spPr>
          <a:xfrm>
            <a:off x="7059168" y="3392424"/>
            <a:ext cx="4343400" cy="548640"/>
          </a:xfrm>
          <a:prstGeom prst="rect">
            <a:avLst/>
          </a:prstGeom>
          <a:noFill/>
        </p:spPr>
        <p:txBody>
          <a:bodyPr wrap="square" anchor="t" lIns="0" rIns="0" tIns="0" bIns="0">
            <a:spAutoFit/>
          </a:bodyPr>
          <a:lstStyle/>
          <a:p>
            <a:pPr algn="l">
              <a:lnSpc>
                <a:spcPct val="118000"/>
              </a:lnSpc>
              <a:spcAft>
                <a:spcPts val="200"/>
              </a:spcAft>
            </a:pPr>
            <a:r>
              <a:rPr sz="1000" b="0" i="0">
                <a:solidFill>
                  <a:srgbClr val="ADBED1"/>
                </a:solidFill>
                <a:latin typeface="Segoe UI"/>
              </a:rPr>
              <a:t>Pembaruan berkala dan integrasi sumber sanad di luar Sanadset 650K.</a:t>
            </a:r>
          </a:p>
        </p:txBody>
      </p:sp>
      <p:sp>
        <p:nvSpPr>
          <p:cNvPr id="45" name="Oval 44"/>
          <p:cNvSpPr/>
          <p:nvPr/>
        </p:nvSpPr>
        <p:spPr>
          <a:xfrm>
            <a:off x="6565392" y="4032504"/>
            <a:ext cx="310896" cy="310896"/>
          </a:xfrm>
          <a:prstGeom prst="ellipse">
            <a:avLst/>
          </a:prstGeom>
          <a:solidFill>
            <a:srgbClr val="6E5A1F"/>
          </a:solidFill>
          <a:ln w="1397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4073652"/>
            <a:ext cx="201168" cy="237744"/>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3</a:t>
            </a:r>
          </a:p>
        </p:txBody>
      </p:sp>
      <p:sp>
        <p:nvSpPr>
          <p:cNvPr id="47" name="TextBox 46"/>
          <p:cNvSpPr txBox="1"/>
          <p:nvPr/>
        </p:nvSpPr>
        <p:spPr>
          <a:xfrm>
            <a:off x="7059168" y="4005072"/>
            <a:ext cx="434340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Dimensi kesahihan</a:t>
            </a:r>
          </a:p>
        </p:txBody>
      </p:sp>
      <p:sp>
        <p:nvSpPr>
          <p:cNvPr id="48" name="TextBox 47"/>
          <p:cNvSpPr txBox="1"/>
          <p:nvPr/>
        </p:nvSpPr>
        <p:spPr>
          <a:xfrm>
            <a:off x="7059168" y="4279392"/>
            <a:ext cx="4343400" cy="548640"/>
          </a:xfrm>
          <a:prstGeom prst="rect">
            <a:avLst/>
          </a:prstGeom>
          <a:noFill/>
        </p:spPr>
        <p:txBody>
          <a:bodyPr wrap="square" anchor="t" lIns="0" rIns="0" tIns="0" bIns="0">
            <a:spAutoFit/>
          </a:bodyPr>
          <a:lstStyle/>
          <a:p>
            <a:pPr algn="l">
              <a:lnSpc>
                <a:spcPct val="118000"/>
              </a:lnSpc>
              <a:spcAft>
                <a:spcPts val="200"/>
              </a:spcAft>
            </a:pPr>
            <a:r>
              <a:rPr sz="1000" b="0" i="0">
                <a:solidFill>
                  <a:srgbClr val="ADBED1"/>
                </a:solidFill>
                <a:latin typeface="Segoe UI"/>
              </a:rPr>
              <a:t>Kaitkan struktur jaringan dengan kualitas perawi dan status kesahihan sanad.</a:t>
            </a:r>
          </a:p>
        </p:txBody>
      </p:sp>
      <p:sp>
        <p:nvSpPr>
          <p:cNvPr id="49" name="Oval 48"/>
          <p:cNvSpPr/>
          <p:nvPr/>
        </p:nvSpPr>
        <p:spPr>
          <a:xfrm>
            <a:off x="6565392" y="4919472"/>
            <a:ext cx="310896" cy="310896"/>
          </a:xfrm>
          <a:prstGeom prst="ellipse">
            <a:avLst/>
          </a:prstGeom>
          <a:solidFill>
            <a:srgbClr val="6E5A1F"/>
          </a:solidFill>
          <a:ln w="1397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20256" y="4960620"/>
            <a:ext cx="201168" cy="237744"/>
          </a:xfrm>
          <a:prstGeom prst="rect">
            <a:avLst/>
          </a:prstGeom>
          <a:noFill/>
        </p:spPr>
        <p:txBody>
          <a:bodyPr wrap="square" anchor="t" lIns="0" rIns="0" tIns="0" bIns="0">
            <a:spAutoFit/>
          </a:bodyPr>
          <a:lstStyle/>
          <a:p>
            <a:pPr algn="ctr">
              <a:lnSpc>
                <a:spcPct val="112000"/>
              </a:lnSpc>
              <a:spcAft>
                <a:spcPts val="200"/>
              </a:spcAft>
            </a:pPr>
            <a:r>
              <a:rPr sz="1100" b="1" i="0">
                <a:solidFill>
                  <a:srgbClr val="F2F6FA"/>
                </a:solidFill>
                <a:latin typeface="Segoe UI"/>
              </a:rPr>
              <a:t>4</a:t>
            </a:r>
          </a:p>
        </p:txBody>
      </p:sp>
      <p:sp>
        <p:nvSpPr>
          <p:cNvPr id="51" name="TextBox 50"/>
          <p:cNvSpPr txBox="1"/>
          <p:nvPr/>
        </p:nvSpPr>
        <p:spPr>
          <a:xfrm>
            <a:off x="7059168" y="4892040"/>
            <a:ext cx="4343400" cy="274320"/>
          </a:xfrm>
          <a:prstGeom prst="rect">
            <a:avLst/>
          </a:prstGeom>
          <a:noFill/>
        </p:spPr>
        <p:txBody>
          <a:bodyPr wrap="square" anchor="t" lIns="0" rIns="0" tIns="0" bIns="0">
            <a:spAutoFit/>
          </a:bodyPr>
          <a:lstStyle/>
          <a:p>
            <a:pPr algn="l">
              <a:lnSpc>
                <a:spcPct val="112000"/>
              </a:lnSpc>
              <a:spcAft>
                <a:spcPts val="200"/>
              </a:spcAft>
            </a:pPr>
            <a:r>
              <a:rPr sz="1200" b="1" i="0">
                <a:solidFill>
                  <a:srgbClr val="F2F6FA"/>
                </a:solidFill>
                <a:latin typeface="Segoe UI"/>
              </a:rPr>
              <a:t>Validasi nama perawi</a:t>
            </a:r>
          </a:p>
        </p:txBody>
      </p:sp>
      <p:sp>
        <p:nvSpPr>
          <p:cNvPr id="52" name="TextBox 51"/>
          <p:cNvSpPr txBox="1"/>
          <p:nvPr/>
        </p:nvSpPr>
        <p:spPr>
          <a:xfrm>
            <a:off x="7059168" y="5166359"/>
            <a:ext cx="4343400" cy="548640"/>
          </a:xfrm>
          <a:prstGeom prst="rect">
            <a:avLst/>
          </a:prstGeom>
          <a:noFill/>
        </p:spPr>
        <p:txBody>
          <a:bodyPr wrap="square" anchor="t" lIns="0" rIns="0" tIns="0" bIns="0">
            <a:spAutoFit/>
          </a:bodyPr>
          <a:lstStyle/>
          <a:p>
            <a:pPr algn="l">
              <a:lnSpc>
                <a:spcPct val="118000"/>
              </a:lnSpc>
              <a:spcAft>
                <a:spcPts val="200"/>
              </a:spcAft>
            </a:pPr>
            <a:r>
              <a:rPr sz="1000" b="0" i="0">
                <a:solidFill>
                  <a:srgbClr val="ADBED1"/>
                </a:solidFill>
                <a:latin typeface="Segoe UI"/>
              </a:rPr>
              <a:t>Pembersihan dengan kamus nama perawi dan verifikasi ahli hadis.</a:t>
            </a:r>
          </a:p>
        </p:txBody>
      </p:sp>
      <p:sp>
        <p:nvSpPr>
          <p:cNvPr id="53" name="TextBox 52"/>
          <p:cNvSpPr txBox="1"/>
          <p:nvPr/>
        </p:nvSpPr>
        <p:spPr>
          <a:xfrm>
            <a:off x="548640" y="6510528"/>
            <a:ext cx="8229600" cy="274320"/>
          </a:xfrm>
          <a:prstGeom prst="rect">
            <a:avLst/>
          </a:prstGeom>
          <a:noFill/>
        </p:spPr>
        <p:txBody>
          <a:bodyPr wrap="square" anchor="t" lIns="0" rIns="0" tIns="0" bIns="0">
            <a:spAutoFit/>
          </a:bodyPr>
          <a:lstStyle/>
          <a:p>
            <a:pPr algn="l">
              <a:lnSpc>
                <a:spcPct val="112000"/>
              </a:lnSpc>
              <a:spcAft>
                <a:spcPts val="200"/>
              </a:spcAft>
            </a:pPr>
            <a:r>
              <a:rPr sz="800" b="0" i="0">
                <a:solidFill>
                  <a:srgbClr val="74889E"/>
                </a:solidFill>
                <a:latin typeface="Segoe UI"/>
              </a:rPr>
              <a:t>Knowledge Graph Keagamaan Ilmuwan Islam · Moh. Nazril Ilham</a:t>
            </a:r>
          </a:p>
        </p:txBody>
      </p:sp>
      <p:sp>
        <p:nvSpPr>
          <p:cNvPr id="54" name="TextBox 53"/>
          <p:cNvSpPr txBox="1"/>
          <p:nvPr/>
        </p:nvSpPr>
        <p:spPr>
          <a:xfrm>
            <a:off x="10881360" y="6510528"/>
            <a:ext cx="777240" cy="274320"/>
          </a:xfrm>
          <a:prstGeom prst="rect">
            <a:avLst/>
          </a:prstGeom>
          <a:noFill/>
        </p:spPr>
        <p:txBody>
          <a:bodyPr wrap="square" anchor="t" lIns="0" rIns="0" tIns="0" bIns="0">
            <a:spAutoFit/>
          </a:bodyPr>
          <a:lstStyle/>
          <a:p>
            <a:pPr algn="r">
              <a:lnSpc>
                <a:spcPct val="112000"/>
              </a:lnSpc>
              <a:spcAft>
                <a:spcPts val="200"/>
              </a:spcAft>
            </a:pPr>
            <a:r>
              <a:rPr sz="800" b="0" i="0">
                <a:solidFill>
                  <a:srgbClr val="74889E"/>
                </a:solidFill>
                <a:latin typeface="Segoe U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9536" cy="69494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18249" y="748757"/>
            <a:ext cx="184626" cy="752304"/>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818249" y="370995"/>
            <a:ext cx="195060" cy="113006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680028" y="479764"/>
            <a:ext cx="291498" cy="24153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02875" y="721302"/>
            <a:ext cx="677153" cy="2745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81865" y="1209221"/>
            <a:ext cx="520404" cy="37235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971526" y="479764"/>
            <a:ext cx="610339" cy="72945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02875" y="370995"/>
            <a:ext cx="10434" cy="3777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3309" y="370995"/>
            <a:ext cx="666719" cy="35030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680028" y="479764"/>
            <a:ext cx="291498" cy="241538"/>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71526" y="479764"/>
            <a:ext cx="610339" cy="72945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002875" y="370995"/>
            <a:ext cx="10434" cy="377762"/>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002875" y="721302"/>
            <a:ext cx="677153" cy="2745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2581865" y="1209221"/>
            <a:ext cx="520404" cy="37235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971526" y="479764"/>
            <a:ext cx="1130743" cy="1101816"/>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48503" y="1431315"/>
            <a:ext cx="139491" cy="139491"/>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600913" y="642187"/>
            <a:ext cx="158229" cy="158229"/>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9841" y="1147197"/>
            <a:ext cx="124048" cy="124048"/>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9252" y="316937"/>
            <a:ext cx="108115" cy="108115"/>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892345" y="400582"/>
            <a:ext cx="158362" cy="158362"/>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8355" y="714237"/>
            <a:ext cx="69040" cy="6904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18257" y="1497568"/>
            <a:ext cx="168025" cy="168025"/>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10617084" y="5629456"/>
            <a:ext cx="128352" cy="22384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10501699" y="5528446"/>
            <a:ext cx="115385" cy="32485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813224" y="5528446"/>
            <a:ext cx="688475" cy="35894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813224" y="5853296"/>
            <a:ext cx="803860" cy="34099"/>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0796192" y="5078919"/>
            <a:ext cx="749466" cy="19941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0745436" y="5078919"/>
            <a:ext cx="800222" cy="550537"/>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0617084" y="5629456"/>
            <a:ext cx="128352" cy="22384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0501699" y="5528446"/>
            <a:ext cx="243737" cy="10101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501699" y="5528446"/>
            <a:ext cx="243737" cy="10101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501699" y="5528446"/>
            <a:ext cx="115385" cy="32485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745436" y="5278336"/>
            <a:ext cx="50756" cy="35112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501699" y="5278336"/>
            <a:ext cx="294493" cy="250110"/>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413463" y="4846261"/>
            <a:ext cx="382729" cy="43207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413463" y="4846261"/>
            <a:ext cx="88236" cy="682185"/>
          </a:xfrm>
          <a:prstGeom prst="line">
            <a:avLst/>
          </a:prstGeom>
          <a:ln w="11430">
            <a:solidFill>
              <a:srgbClr val="24405C"/>
            </a:solidFill>
          </a:ln>
          <a:effectLst/>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0536521" y="5772732"/>
            <a:ext cx="161126" cy="161126"/>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728274" y="5802445"/>
            <a:ext cx="169900" cy="16990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474918" y="5008179"/>
            <a:ext cx="141480" cy="141480"/>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656005" y="5540025"/>
            <a:ext cx="178861" cy="178861"/>
          </a:xfrm>
          <a:prstGeom prst="ellipse">
            <a:avLst/>
          </a:prstGeom>
          <a:solidFill>
            <a:srgbClr val="6E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413614" y="5440361"/>
            <a:ext cx="176171" cy="176171"/>
          </a:xfrm>
          <a:prstGeom prst="ellipse">
            <a:avLst/>
          </a:prstGeom>
          <a:solidFill>
            <a:srgbClr val="1B5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745807" y="5227951"/>
            <a:ext cx="100770" cy="100770"/>
          </a:xfrm>
          <a:prstGeom prst="ellipse">
            <a:avLst/>
          </a:prstGeom>
          <a:solidFill>
            <a:srgbClr val="2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45346" y="4778145"/>
            <a:ext cx="136232" cy="136232"/>
          </a:xfrm>
          <a:prstGeom prst="ellipse">
            <a:avLst/>
          </a:prstGeom>
          <a:solidFill>
            <a:srgbClr val="26A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63040" y="1188720"/>
            <a:ext cx="9262872" cy="320040"/>
          </a:xfrm>
          <a:prstGeom prst="rect">
            <a:avLst/>
          </a:prstGeom>
          <a:noFill/>
        </p:spPr>
        <p:txBody>
          <a:bodyPr wrap="square" anchor="t" lIns="0" rIns="0" tIns="0" bIns="0">
            <a:spAutoFit/>
          </a:bodyPr>
          <a:lstStyle/>
          <a:p>
            <a:pPr algn="ctr">
              <a:lnSpc>
                <a:spcPct val="112000"/>
              </a:lnSpc>
              <a:spcAft>
                <a:spcPts val="200"/>
              </a:spcAft>
            </a:pPr>
            <a:r>
              <a:rPr sz="1100" b="1" i="0">
                <a:solidFill>
                  <a:srgbClr val="E3B341"/>
                </a:solidFill>
                <a:latin typeface="Segoe UI"/>
              </a:rPr>
              <a:t>13 · PENUTUP</a:t>
            </a:r>
          </a:p>
        </p:txBody>
      </p:sp>
      <p:sp>
        <p:nvSpPr>
          <p:cNvPr id="46" name="TextBox 45"/>
          <p:cNvSpPr txBox="1"/>
          <p:nvPr/>
        </p:nvSpPr>
        <p:spPr>
          <a:xfrm>
            <a:off x="1463040" y="1600200"/>
            <a:ext cx="9262872" cy="914400"/>
          </a:xfrm>
          <a:prstGeom prst="rect">
            <a:avLst/>
          </a:prstGeom>
          <a:noFill/>
        </p:spPr>
        <p:txBody>
          <a:bodyPr wrap="square" anchor="t" lIns="0" rIns="0" tIns="0" bIns="0">
            <a:spAutoFit/>
          </a:bodyPr>
          <a:lstStyle/>
          <a:p>
            <a:pPr algn="ctr">
              <a:lnSpc>
                <a:spcPct val="112000"/>
              </a:lnSpc>
              <a:spcAft>
                <a:spcPts val="200"/>
              </a:spcAft>
            </a:pPr>
            <a:r>
              <a:rPr sz="3000" b="1" i="0">
                <a:solidFill>
                  <a:srgbClr val="F2F6FA"/>
                </a:solidFill>
                <a:latin typeface="Segoe UI"/>
              </a:rPr>
              <a:t>Menjaga Sanad, Merawat Ilmu — dengan Teknologi</a:t>
            </a:r>
          </a:p>
        </p:txBody>
      </p:sp>
      <p:sp>
        <p:nvSpPr>
          <p:cNvPr id="47" name="Rounded Rectangle 46"/>
          <p:cNvSpPr/>
          <p:nvPr/>
        </p:nvSpPr>
        <p:spPr>
          <a:xfrm>
            <a:off x="1738731" y="2880360"/>
            <a:ext cx="1417320" cy="457200"/>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738731" y="2990088"/>
            <a:ext cx="1417320" cy="274320"/>
          </a:xfrm>
          <a:prstGeom prst="rect">
            <a:avLst/>
          </a:prstGeom>
          <a:noFill/>
        </p:spPr>
        <p:txBody>
          <a:bodyPr wrap="square" anchor="t" lIns="0" rIns="0" tIns="0" bIns="0">
            <a:spAutoFit/>
          </a:bodyPr>
          <a:lstStyle/>
          <a:p>
            <a:pPr algn="ctr">
              <a:lnSpc>
                <a:spcPct val="112000"/>
              </a:lnSpc>
              <a:spcAft>
                <a:spcPts val="200"/>
              </a:spcAft>
            </a:pPr>
            <a:r>
              <a:rPr sz="1050" b="1" i="0">
                <a:solidFill>
                  <a:srgbClr val="ADBED1"/>
                </a:solidFill>
                <a:latin typeface="Segoe UI"/>
              </a:rPr>
              <a:t>650.986 hadis</a:t>
            </a:r>
          </a:p>
        </p:txBody>
      </p:sp>
      <p:sp>
        <p:nvSpPr>
          <p:cNvPr id="49" name="TextBox 48"/>
          <p:cNvSpPr txBox="1"/>
          <p:nvPr/>
        </p:nvSpPr>
        <p:spPr>
          <a:xfrm>
            <a:off x="3183483" y="2926080"/>
            <a:ext cx="329184" cy="365760"/>
          </a:xfrm>
          <a:prstGeom prst="rect">
            <a:avLst/>
          </a:prstGeom>
          <a:noFill/>
        </p:spPr>
        <p:txBody>
          <a:bodyPr wrap="square" anchor="t" lIns="0" rIns="0" tIns="0" bIns="0">
            <a:spAutoFit/>
          </a:bodyPr>
          <a:lstStyle/>
          <a:p>
            <a:pPr algn="ctr">
              <a:lnSpc>
                <a:spcPct val="112000"/>
              </a:lnSpc>
              <a:spcAft>
                <a:spcPts val="200"/>
              </a:spcAft>
            </a:pPr>
            <a:r>
              <a:rPr sz="1300" b="1" i="0">
                <a:solidFill>
                  <a:srgbClr val="E3B341"/>
                </a:solidFill>
                <a:latin typeface="Segoe UI"/>
              </a:rPr>
              <a:t>→</a:t>
            </a:r>
          </a:p>
        </p:txBody>
      </p:sp>
      <p:sp>
        <p:nvSpPr>
          <p:cNvPr id="50" name="Rounded Rectangle 49"/>
          <p:cNvSpPr/>
          <p:nvPr/>
        </p:nvSpPr>
        <p:spPr>
          <a:xfrm>
            <a:off x="3540099" y="2880360"/>
            <a:ext cx="1371600" cy="457200"/>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40099" y="2990088"/>
            <a:ext cx="1371600" cy="274320"/>
          </a:xfrm>
          <a:prstGeom prst="rect">
            <a:avLst/>
          </a:prstGeom>
          <a:noFill/>
        </p:spPr>
        <p:txBody>
          <a:bodyPr wrap="square" anchor="t" lIns="0" rIns="0" tIns="0" bIns="0">
            <a:spAutoFit/>
          </a:bodyPr>
          <a:lstStyle/>
          <a:p>
            <a:pPr algn="ctr">
              <a:lnSpc>
                <a:spcPct val="112000"/>
              </a:lnSpc>
              <a:spcAft>
                <a:spcPts val="200"/>
              </a:spcAft>
            </a:pPr>
            <a:r>
              <a:rPr sz="1050" b="1" i="0">
                <a:solidFill>
                  <a:srgbClr val="ADBED1"/>
                </a:solidFill>
                <a:latin typeface="Segoe UI"/>
              </a:rPr>
              <a:t>487.451 sanad</a:t>
            </a:r>
          </a:p>
        </p:txBody>
      </p:sp>
      <p:sp>
        <p:nvSpPr>
          <p:cNvPr id="52" name="TextBox 51"/>
          <p:cNvSpPr txBox="1"/>
          <p:nvPr/>
        </p:nvSpPr>
        <p:spPr>
          <a:xfrm>
            <a:off x="4939131" y="2926080"/>
            <a:ext cx="329184" cy="365760"/>
          </a:xfrm>
          <a:prstGeom prst="rect">
            <a:avLst/>
          </a:prstGeom>
          <a:noFill/>
        </p:spPr>
        <p:txBody>
          <a:bodyPr wrap="square" anchor="t" lIns="0" rIns="0" tIns="0" bIns="0">
            <a:spAutoFit/>
          </a:bodyPr>
          <a:lstStyle/>
          <a:p>
            <a:pPr algn="ctr">
              <a:lnSpc>
                <a:spcPct val="112000"/>
              </a:lnSpc>
              <a:spcAft>
                <a:spcPts val="200"/>
              </a:spcAft>
            </a:pPr>
            <a:r>
              <a:rPr sz="1300" b="1" i="0">
                <a:solidFill>
                  <a:srgbClr val="E3B341"/>
                </a:solidFill>
                <a:latin typeface="Segoe UI"/>
              </a:rPr>
              <a:t>→</a:t>
            </a:r>
          </a:p>
        </p:txBody>
      </p:sp>
      <p:sp>
        <p:nvSpPr>
          <p:cNvPr id="53" name="Rounded Rectangle 52"/>
          <p:cNvSpPr/>
          <p:nvPr/>
        </p:nvSpPr>
        <p:spPr>
          <a:xfrm>
            <a:off x="5295747" y="2880360"/>
            <a:ext cx="1463040" cy="457200"/>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295747" y="2990088"/>
            <a:ext cx="1463040" cy="274320"/>
          </a:xfrm>
          <a:prstGeom prst="rect">
            <a:avLst/>
          </a:prstGeom>
          <a:noFill/>
        </p:spPr>
        <p:txBody>
          <a:bodyPr wrap="square" anchor="t" lIns="0" rIns="0" tIns="0" bIns="0">
            <a:spAutoFit/>
          </a:bodyPr>
          <a:lstStyle/>
          <a:p>
            <a:pPr algn="ctr">
              <a:lnSpc>
                <a:spcPct val="112000"/>
              </a:lnSpc>
              <a:spcAft>
                <a:spcPts val="200"/>
              </a:spcAft>
            </a:pPr>
            <a:r>
              <a:rPr sz="1050" b="1" i="0">
                <a:solidFill>
                  <a:srgbClr val="ADBED1"/>
                </a:solidFill>
                <a:latin typeface="Segoe UI"/>
              </a:rPr>
              <a:t>177.047 perawi</a:t>
            </a:r>
          </a:p>
        </p:txBody>
      </p:sp>
      <p:sp>
        <p:nvSpPr>
          <p:cNvPr id="55" name="TextBox 54"/>
          <p:cNvSpPr txBox="1"/>
          <p:nvPr/>
        </p:nvSpPr>
        <p:spPr>
          <a:xfrm>
            <a:off x="6786219" y="2926080"/>
            <a:ext cx="329184" cy="365760"/>
          </a:xfrm>
          <a:prstGeom prst="rect">
            <a:avLst/>
          </a:prstGeom>
          <a:noFill/>
        </p:spPr>
        <p:txBody>
          <a:bodyPr wrap="square" anchor="t" lIns="0" rIns="0" tIns="0" bIns="0">
            <a:spAutoFit/>
          </a:bodyPr>
          <a:lstStyle/>
          <a:p>
            <a:pPr algn="ctr">
              <a:lnSpc>
                <a:spcPct val="112000"/>
              </a:lnSpc>
              <a:spcAft>
                <a:spcPts val="200"/>
              </a:spcAft>
            </a:pPr>
            <a:r>
              <a:rPr sz="1300" b="1" i="0">
                <a:solidFill>
                  <a:srgbClr val="E3B341"/>
                </a:solidFill>
                <a:latin typeface="Segoe UI"/>
              </a:rPr>
              <a:t>→</a:t>
            </a:r>
          </a:p>
        </p:txBody>
      </p:sp>
      <p:sp>
        <p:nvSpPr>
          <p:cNvPr id="56" name="Rounded Rectangle 55"/>
          <p:cNvSpPr/>
          <p:nvPr/>
        </p:nvSpPr>
        <p:spPr>
          <a:xfrm>
            <a:off x="7142835" y="2880360"/>
            <a:ext cx="1234440" cy="457200"/>
          </a:xfrm>
          <a:prstGeom prst="roundRect">
            <a:avLst>
              <a:gd name="adj" fmla="val 50000"/>
            </a:avLst>
          </a:prstGeom>
          <a:solidFill>
            <a:srgbClr val="112438"/>
          </a:solidFill>
          <a:ln w="12700">
            <a:solidFill>
              <a:srgbClr val="2742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42835" y="2990088"/>
            <a:ext cx="1234440" cy="274320"/>
          </a:xfrm>
          <a:prstGeom prst="rect">
            <a:avLst/>
          </a:prstGeom>
          <a:noFill/>
        </p:spPr>
        <p:txBody>
          <a:bodyPr wrap="square" anchor="t" lIns="0" rIns="0" tIns="0" bIns="0">
            <a:spAutoFit/>
          </a:bodyPr>
          <a:lstStyle/>
          <a:p>
            <a:pPr algn="ctr">
              <a:lnSpc>
                <a:spcPct val="112000"/>
              </a:lnSpc>
              <a:spcAft>
                <a:spcPts val="200"/>
              </a:spcAft>
            </a:pPr>
            <a:r>
              <a:rPr sz="1050" b="1" i="0">
                <a:solidFill>
                  <a:srgbClr val="ADBED1"/>
                </a:solidFill>
                <a:latin typeface="Segoe UI"/>
              </a:rPr>
              <a:t>5 metrik SNA</a:t>
            </a:r>
          </a:p>
        </p:txBody>
      </p:sp>
      <p:sp>
        <p:nvSpPr>
          <p:cNvPr id="58" name="TextBox 57"/>
          <p:cNvSpPr txBox="1"/>
          <p:nvPr/>
        </p:nvSpPr>
        <p:spPr>
          <a:xfrm>
            <a:off x="8404707" y="2926080"/>
            <a:ext cx="329184" cy="365760"/>
          </a:xfrm>
          <a:prstGeom prst="rect">
            <a:avLst/>
          </a:prstGeom>
          <a:noFill/>
        </p:spPr>
        <p:txBody>
          <a:bodyPr wrap="square" anchor="t" lIns="0" rIns="0" tIns="0" bIns="0">
            <a:spAutoFit/>
          </a:bodyPr>
          <a:lstStyle/>
          <a:p>
            <a:pPr algn="ctr">
              <a:lnSpc>
                <a:spcPct val="112000"/>
              </a:lnSpc>
              <a:spcAft>
                <a:spcPts val="200"/>
              </a:spcAft>
            </a:pPr>
            <a:r>
              <a:rPr sz="1300" b="1" i="0">
                <a:solidFill>
                  <a:srgbClr val="E3B341"/>
                </a:solidFill>
                <a:latin typeface="Segoe UI"/>
              </a:rPr>
              <a:t>→</a:t>
            </a:r>
          </a:p>
        </p:txBody>
      </p:sp>
      <p:sp>
        <p:nvSpPr>
          <p:cNvPr id="59" name="Rounded Rectangle 58"/>
          <p:cNvSpPr/>
          <p:nvPr/>
        </p:nvSpPr>
        <p:spPr>
          <a:xfrm>
            <a:off x="8761323" y="2880360"/>
            <a:ext cx="1691640" cy="457200"/>
          </a:xfrm>
          <a:prstGeom prst="roundRect">
            <a:avLst>
              <a:gd name="adj" fmla="val 50000"/>
            </a:avLst>
          </a:prstGeom>
          <a:solidFill>
            <a:srgbClr val="1B5E44"/>
          </a:solidFill>
          <a:ln w="15240">
            <a:solidFill>
              <a:srgbClr val="34C9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61323" y="2990088"/>
            <a:ext cx="1691640" cy="274320"/>
          </a:xfrm>
          <a:prstGeom prst="rect">
            <a:avLst/>
          </a:prstGeom>
          <a:noFill/>
        </p:spPr>
        <p:txBody>
          <a:bodyPr wrap="square" anchor="t" lIns="0" rIns="0" tIns="0" bIns="0">
            <a:spAutoFit/>
          </a:bodyPr>
          <a:lstStyle/>
          <a:p>
            <a:pPr algn="ctr">
              <a:lnSpc>
                <a:spcPct val="112000"/>
              </a:lnSpc>
              <a:spcAft>
                <a:spcPts val="200"/>
              </a:spcAft>
            </a:pPr>
            <a:r>
              <a:rPr sz="1050" b="1" i="0">
                <a:solidFill>
                  <a:srgbClr val="F2F6FA"/>
                </a:solidFill>
                <a:latin typeface="Segoe UI"/>
              </a:rPr>
              <a:t>1 dashboard publik</a:t>
            </a:r>
          </a:p>
        </p:txBody>
      </p:sp>
      <p:sp>
        <p:nvSpPr>
          <p:cNvPr id="61" name="TextBox 60"/>
          <p:cNvSpPr txBox="1"/>
          <p:nvPr/>
        </p:nvSpPr>
        <p:spPr>
          <a:xfrm>
            <a:off x="1920240" y="3794760"/>
            <a:ext cx="8348472" cy="640080"/>
          </a:xfrm>
          <a:prstGeom prst="rect">
            <a:avLst/>
          </a:prstGeom>
          <a:noFill/>
        </p:spPr>
        <p:txBody>
          <a:bodyPr wrap="square" anchor="t" lIns="0" rIns="0" tIns="0" bIns="0">
            <a:spAutoFit/>
          </a:bodyPr>
          <a:lstStyle/>
          <a:p>
            <a:pPr algn="ctr">
              <a:lnSpc>
                <a:spcPct val="130000"/>
              </a:lnSpc>
              <a:spcAft>
                <a:spcPts val="200"/>
              </a:spcAft>
            </a:pPr>
            <a:r>
              <a:rPr sz="1400" b="0" i="1">
                <a:solidFill>
                  <a:srgbClr val="ADBED1"/>
                </a:solidFill>
                <a:latin typeface="Segoe UI"/>
              </a:rPr>
              <a:t>Jaringan keilmuan Islam kini bukan hanya warisan untuk dibaca,
melainkan data untuk dijelajahi.</a:t>
            </a:r>
          </a:p>
        </p:txBody>
      </p:sp>
      <p:sp>
        <p:nvSpPr>
          <p:cNvPr id="62" name="TextBox 61"/>
          <p:cNvSpPr txBox="1"/>
          <p:nvPr/>
        </p:nvSpPr>
        <p:spPr>
          <a:xfrm>
            <a:off x="1463040" y="4892040"/>
            <a:ext cx="9262872" cy="457200"/>
          </a:xfrm>
          <a:prstGeom prst="rect">
            <a:avLst/>
          </a:prstGeom>
          <a:noFill/>
        </p:spPr>
        <p:txBody>
          <a:bodyPr wrap="square" anchor="t" lIns="0" rIns="0" tIns="0" bIns="0">
            <a:spAutoFit/>
          </a:bodyPr>
          <a:lstStyle/>
          <a:p>
            <a:pPr algn="ctr">
              <a:lnSpc>
                <a:spcPct val="112000"/>
              </a:lnSpc>
              <a:spcAft>
                <a:spcPts val="200"/>
              </a:spcAft>
            </a:pPr>
            <a:r>
              <a:rPr sz="2400" b="1" i="0">
                <a:solidFill>
                  <a:srgbClr val="E3B341"/>
                </a:solidFill>
                <a:latin typeface="Segoe UI"/>
              </a:rPr>
              <a:t>Terima Kasih</a:t>
            </a:r>
          </a:p>
        </p:txBody>
      </p:sp>
      <p:sp>
        <p:nvSpPr>
          <p:cNvPr id="63" name="TextBox 62"/>
          <p:cNvSpPr txBox="1"/>
          <p:nvPr/>
        </p:nvSpPr>
        <p:spPr>
          <a:xfrm>
            <a:off x="1463040" y="5440680"/>
            <a:ext cx="9262872" cy="274320"/>
          </a:xfrm>
          <a:prstGeom prst="rect">
            <a:avLst/>
          </a:prstGeom>
          <a:noFill/>
        </p:spPr>
        <p:txBody>
          <a:bodyPr wrap="square" anchor="t" lIns="0" rIns="0" tIns="0" bIns="0">
            <a:spAutoFit/>
          </a:bodyPr>
          <a:lstStyle/>
          <a:p>
            <a:pPr algn="ctr">
              <a:lnSpc>
                <a:spcPct val="112000"/>
              </a:lnSpc>
              <a:spcAft>
                <a:spcPts val="200"/>
              </a:spcAft>
            </a:pPr>
            <a:r>
              <a:rPr sz="1050" b="0" i="0">
                <a:solidFill>
                  <a:srgbClr val="74889E"/>
                </a:solidFill>
                <a:latin typeface="Segoe UI"/>
              </a:rPr>
              <a:t>Moh. Nazril Ilham · 22/493142/TK/54000 · mmohnazrililham@gmail.com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